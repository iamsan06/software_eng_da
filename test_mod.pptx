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3.svg" ContentType="image/svg+xml"/>
  <Override PartName="/ppt/media/image3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18288000" cy="10287000"/>
  <p:notesSz cx="6858000" cy="9144000"/>
  <p:embeddedFontLst>
    <p:embeddedFont>
      <p:font typeface="Helvetica World" charset="1" panose="020B0500040000020004"/>
      <p:regular r:id="rId46"/>
    </p:embeddedFont>
    <p:embeddedFont>
      <p:font typeface="Georgia Pro Condensed" charset="1" panose="02040506050405020303"/>
      <p:regular r:id="rId47"/>
    </p:embeddedFont>
    <p:embeddedFont>
      <p:font typeface="Helvetica World Bold" charset="1" panose="020B0800040000020004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F7F6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11285"/>
            <a:ext cx="6886575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Sankar S Pillai, Martin Wills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889343"/>
            <a:ext cx="9754495" cy="410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75"/>
              </a:lnSpc>
            </a:pPr>
            <a:r>
              <a:rPr lang="en-US" sz="10575" spc="-370" strike="noStrike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Rainfall-Lag-Aware Crop Yield Forecasting in India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Context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6718300"/>
            <a:chOff x="0" y="0"/>
            <a:chExt cx="13017500" cy="89577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7751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Kerala's agriculture is heavily reliant on seasonal rainfall, making it vulnerable to climatic variability. Key points include: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Dependence on Monsoons: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The southwest monsoon is critical for crop growth.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Interannual Variability: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Fluctuations in rainfall patterns can disrupt planting schedules.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 Sensitivity: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Varieties respond differently to moisture levels, impacting yield.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Decision-Making Needs: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Accurate forecasting is essential for planning and resource allocation.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Understanding these factors is crucial for developing effective rainfall-lag-aware yield forecasting models tailored to the region's specific needs.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Kerala's climate and agriculture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5251450"/>
            <a:chOff x="0" y="0"/>
            <a:chExt cx="13017500" cy="70019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5795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Timely forecasts enable proactive measures for resource allocation.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Accurate predictions enhance food security and economic stability.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Supports farmers in optimizing planting and harvesting schedules.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Facilitates effective risk management against adverse weather events.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Empowers stakeholders to make informed decisions regarding crop selection.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Contributes to sustainable agricultural practices by minimizing waste.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Enhances overall productivity and profitability of farming operations.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Insights into Agricultural Yield Forecasting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Problem Formulation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Causal Chain Analysis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Temporal Lag Effects on Crop Yield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959100"/>
            <a:chOff x="0" y="0"/>
            <a:chExt cx="5744662" cy="3945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Input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865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model inputs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historical rainfall and meteorological data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to understand how previous precipitation affects crop yields, emphasizing the significance of data accuracy and relevance.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59100"/>
            <a:chOff x="0" y="0"/>
            <a:chExt cx="5346700" cy="3945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Temporal Exposure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865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Rainfall exposure over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multiple preceding time intervals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is crucial in capturing delayed physiological responses, allowing for a more comprehensive understanding of crop yield dynamics.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3254375"/>
            <a:chOff x="0" y="0"/>
            <a:chExt cx="5346700" cy="43391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 Response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3259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physiological and agronomic reactions of crops to varying rainfall lag structures illustrate the complexity of relationships influencing overall yield outcomes, necessitating robust analysis for predictions.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Existing Approaches Overview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9763125" cy="4219575"/>
            <a:chOff x="0" y="0"/>
            <a:chExt cx="13017500" cy="56261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13017500" cy="4526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Comparison of Statistical and Machine Learning Models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5067300"/>
              <a:ext cx="130175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Evaluating Approaches to Crop Yield Forecasting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7816850"/>
            <a:ext cx="8324850" cy="180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page examines the strengths and limitations of </a:t>
            </a: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conventional statistical</a:t>
            </a: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models versus </a:t>
            </a: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standard machine-learning</a:t>
            </a: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approaches in crop yield forecasting, highlighting their different capabilities regarding temporal lag.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172950" y="5316715"/>
            <a:ext cx="5448300" cy="4303535"/>
            <a:chOff x="0" y="0"/>
            <a:chExt cx="1175568" cy="9285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5568" cy="928565"/>
            </a:xfrm>
            <a:custGeom>
              <a:avLst/>
              <a:gdLst/>
              <a:ahLst/>
              <a:cxnLst/>
              <a:rect r="r" b="b" t="t" l="l"/>
              <a:pathLst>
                <a:path h="928565" w="1175568">
                  <a:moveTo>
                    <a:pt x="28420" y="0"/>
                  </a:moveTo>
                  <a:lnTo>
                    <a:pt x="1147149" y="0"/>
                  </a:lnTo>
                  <a:cubicBezTo>
                    <a:pt x="1154686" y="0"/>
                    <a:pt x="1161915" y="2994"/>
                    <a:pt x="1167244" y="8324"/>
                  </a:cubicBezTo>
                  <a:cubicBezTo>
                    <a:pt x="1172574" y="13654"/>
                    <a:pt x="1175568" y="20882"/>
                    <a:pt x="1175568" y="28420"/>
                  </a:cubicBezTo>
                  <a:lnTo>
                    <a:pt x="1175568" y="900145"/>
                  </a:lnTo>
                  <a:cubicBezTo>
                    <a:pt x="1175568" y="915841"/>
                    <a:pt x="1162845" y="928565"/>
                    <a:pt x="1147149" y="928565"/>
                  </a:cubicBezTo>
                  <a:lnTo>
                    <a:pt x="28420" y="928565"/>
                  </a:lnTo>
                  <a:cubicBezTo>
                    <a:pt x="12724" y="928565"/>
                    <a:pt x="0" y="915841"/>
                    <a:pt x="0" y="90014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2"/>
              <a:stretch>
                <a:fillRect l="-151" t="0" r="-151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172950" y="666750"/>
            <a:ext cx="5448300" cy="4345165"/>
            <a:chOff x="0" y="0"/>
            <a:chExt cx="1484382" cy="11838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84382" cy="1183835"/>
            </a:xfrm>
            <a:custGeom>
              <a:avLst/>
              <a:gdLst/>
              <a:ahLst/>
              <a:cxnLst/>
              <a:rect r="r" b="b" t="t" l="l"/>
              <a:pathLst>
                <a:path h="1183835" w="1484382">
                  <a:moveTo>
                    <a:pt x="28420" y="0"/>
                  </a:moveTo>
                  <a:lnTo>
                    <a:pt x="1455963" y="0"/>
                  </a:lnTo>
                  <a:cubicBezTo>
                    <a:pt x="1471658" y="0"/>
                    <a:pt x="1484382" y="12724"/>
                    <a:pt x="1484382" y="28420"/>
                  </a:cubicBezTo>
                  <a:lnTo>
                    <a:pt x="1484382" y="1155415"/>
                  </a:lnTo>
                  <a:cubicBezTo>
                    <a:pt x="1484382" y="1171111"/>
                    <a:pt x="1471658" y="1183835"/>
                    <a:pt x="1455963" y="1183835"/>
                  </a:cubicBezTo>
                  <a:lnTo>
                    <a:pt x="28420" y="1183835"/>
                  </a:lnTo>
                  <a:cubicBezTo>
                    <a:pt x="20882" y="1183835"/>
                    <a:pt x="13654" y="1180840"/>
                    <a:pt x="8324" y="1175511"/>
                  </a:cubicBezTo>
                  <a:cubicBezTo>
                    <a:pt x="2994" y="1170181"/>
                    <a:pt x="0" y="1162952"/>
                    <a:pt x="0" y="115541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l="-636" t="0" r="-636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9763125" cy="3105150"/>
            <a:chOff x="0" y="0"/>
            <a:chExt cx="13017500" cy="41402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13017500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Comparison of Temporal Approaches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81400"/>
              <a:ext cx="130175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Examining Time-Series and Climate-Informed Models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7893050"/>
            <a:ext cx="8324850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section outlines the distinctions between time-series approaches and climate-informed models, emphasizing their methodologies, strengths, and limitations in addressing rainfall-lag-aware crop yield forecasting.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172950" y="5316715"/>
            <a:ext cx="5448300" cy="4303535"/>
            <a:chOff x="0" y="0"/>
            <a:chExt cx="1175568" cy="9285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5568" cy="928565"/>
            </a:xfrm>
            <a:custGeom>
              <a:avLst/>
              <a:gdLst/>
              <a:ahLst/>
              <a:cxnLst/>
              <a:rect r="r" b="b" t="t" l="l"/>
              <a:pathLst>
                <a:path h="928565" w="1175568">
                  <a:moveTo>
                    <a:pt x="28420" y="0"/>
                  </a:moveTo>
                  <a:lnTo>
                    <a:pt x="1147149" y="0"/>
                  </a:lnTo>
                  <a:cubicBezTo>
                    <a:pt x="1154686" y="0"/>
                    <a:pt x="1161915" y="2994"/>
                    <a:pt x="1167244" y="8324"/>
                  </a:cubicBezTo>
                  <a:cubicBezTo>
                    <a:pt x="1172574" y="13654"/>
                    <a:pt x="1175568" y="20882"/>
                    <a:pt x="1175568" y="28420"/>
                  </a:cubicBezTo>
                  <a:lnTo>
                    <a:pt x="1175568" y="900145"/>
                  </a:lnTo>
                  <a:cubicBezTo>
                    <a:pt x="1175568" y="915841"/>
                    <a:pt x="1162845" y="928565"/>
                    <a:pt x="1147149" y="928565"/>
                  </a:cubicBezTo>
                  <a:lnTo>
                    <a:pt x="28420" y="928565"/>
                  </a:lnTo>
                  <a:cubicBezTo>
                    <a:pt x="12724" y="928565"/>
                    <a:pt x="0" y="915841"/>
                    <a:pt x="0" y="90014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2"/>
              <a:stretch>
                <a:fillRect l="-151" t="0" r="-151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172950" y="666750"/>
            <a:ext cx="5448300" cy="4345165"/>
            <a:chOff x="0" y="0"/>
            <a:chExt cx="1484382" cy="11838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84382" cy="1183835"/>
            </a:xfrm>
            <a:custGeom>
              <a:avLst/>
              <a:gdLst/>
              <a:ahLst/>
              <a:cxnLst/>
              <a:rect r="r" b="b" t="t" l="l"/>
              <a:pathLst>
                <a:path h="1183835" w="1484382">
                  <a:moveTo>
                    <a:pt x="28420" y="0"/>
                  </a:moveTo>
                  <a:lnTo>
                    <a:pt x="1455963" y="0"/>
                  </a:lnTo>
                  <a:cubicBezTo>
                    <a:pt x="1471658" y="0"/>
                    <a:pt x="1484382" y="12724"/>
                    <a:pt x="1484382" y="28420"/>
                  </a:cubicBezTo>
                  <a:lnTo>
                    <a:pt x="1484382" y="1155415"/>
                  </a:lnTo>
                  <a:cubicBezTo>
                    <a:pt x="1484382" y="1171111"/>
                    <a:pt x="1471658" y="1183835"/>
                    <a:pt x="1455963" y="1183835"/>
                  </a:cubicBezTo>
                  <a:lnTo>
                    <a:pt x="28420" y="1183835"/>
                  </a:lnTo>
                  <a:cubicBezTo>
                    <a:pt x="20882" y="1183835"/>
                    <a:pt x="13654" y="1180840"/>
                    <a:pt x="8324" y="1175511"/>
                  </a:cubicBezTo>
                  <a:cubicBezTo>
                    <a:pt x="2994" y="1170181"/>
                    <a:pt x="0" y="1162952"/>
                    <a:pt x="0" y="115541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l="-636" t="0" r="-636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Gap: Temporal Lag Structure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5441950"/>
            <a:chOff x="0" y="0"/>
            <a:chExt cx="13017500" cy="72559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6049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Existing crop-yield prediction approaches frequently represent precipitation using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contemporaneous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or aggregated features. This methodology potentially obscures delayed and crop-specific rainfall responses. The contributions of rainfall at various time lags—such as t-1, t-2, t-4, and t-8—remain largely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unknown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 This lack of representation can lead to inaccurate yield forecasts, as it does not account for the complex physiological and agronomic responses of crops to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delayed precipitation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 A more nuanced approach that incorporates lagged rainfall data is crucial for improving the accuracy of yield predictions in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Kerala's agricultural landscape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the limitations of existing models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5689600"/>
            <a:chOff x="0" y="0"/>
            <a:chExt cx="13017500" cy="75861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6379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research question addresses how lagged rainfall exposures contribute to yield prediction. This involves: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Analyzing the effects of rainfall at various lag times (t-1, t-2, t-3, etc.)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Determining if these lagged variables provide significant predictive power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Identifying crop-specific responses to delayed rainfall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Evaluating the influence of interannual climatic variability on lag effects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Understanding these aspects will enhance the accuracy of crop yield forecasts and offer actionable insights for agricultural planning in Kerala’s dynamic climate.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Exploring the impact of rainfall lag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Questions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5A47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3089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Questions Overview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34675" y="6944836"/>
            <a:ext cx="6886575" cy="1780223"/>
            <a:chOff x="0" y="0"/>
            <a:chExt cx="9182100" cy="237363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Informative Lags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Identifying specific lags optimizes forecasting accuracy effectively.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1553369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34675" y="4248150"/>
            <a:ext cx="6886575" cy="1780223"/>
            <a:chOff x="0" y="0"/>
            <a:chExt cx="9182100" cy="237363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Contemporaneous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Contemporaneous features may overlook critical rainfall impacts.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4675" y="1562100"/>
            <a:ext cx="6886575" cy="1780223"/>
            <a:chOff x="0" y="0"/>
            <a:chExt cx="9182100" cy="23736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Lag-Aware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Lag-aware features enhance predictive capabilities significantly.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5A47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207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Optimal Lag Structures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34675" y="6944836"/>
            <a:ext cx="6886575" cy="1780223"/>
            <a:chOff x="0" y="0"/>
            <a:chExt cx="9182100" cy="237363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Explainability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Machine learning can clarify rainfall-yield relationships.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1553369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34675" y="4248150"/>
            <a:ext cx="6886575" cy="1780223"/>
            <a:chOff x="0" y="0"/>
            <a:chExt cx="9182100" cy="237363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Climate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Climatic conditions influence lag contributions to yield.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4675" y="1562100"/>
            <a:ext cx="6886575" cy="1370648"/>
            <a:chOff x="0" y="0"/>
            <a:chExt cx="9182100" cy="18275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Different crops respond uniquely to rainfall lags.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Hypotheses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581400"/>
            <a:chOff x="0" y="0"/>
            <a:chExt cx="17259300" cy="4775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Lagged Rainfall Features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Improving Crop Yield Prediction Accuracy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06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Incorporating lagged rainfall features into models is expected to reduce prediction errors by capturing the delayed effects of precipitation, enhancing the accuracy of crop yield forecasts.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581400"/>
            <a:chOff x="0" y="0"/>
            <a:chExt cx="17259300" cy="4775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Rainfall Contributions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Crop-Specific Temporal Lag Structures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06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Understanding the unique temporal lag structures of rainfall can enhance crop yield prediction, offering tailored insights that improve model robustness under varying climatic conditions in Kerala.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Proposed Methodology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118" y="3367087"/>
            <a:ext cx="400765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Acquisition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9118" y="5105400"/>
            <a:ext cx="4007657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stage involves gathering comprehensive datasets, including historical rainfall and crop yield information, to build a robust foundation for subsequent analyses and model development.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81575" y="3367087"/>
            <a:ext cx="401002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Cleaning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16434" y="3323432"/>
            <a:ext cx="400310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Lag Feature Construction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81575" y="5105400"/>
            <a:ext cx="4010025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this phase, the collected data will be meticulously reviewed and cleaned to remove inconsistencies, missing values, and outliers, ensuring high-quality data for accurate forecasting.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11225" y="5105400"/>
            <a:ext cx="4003106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crucial step involves generating lagged rainfall features, allowing us to capture the delayed effects of precipitation on crop yield, thereby enhancing predictive model performance.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96400" y="3367087"/>
            <a:ext cx="380784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Temporal Alignment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97189" y="5105400"/>
            <a:ext cx="4009236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Here, we will align the temporal datasets, synchronizing rainfall and crop yield data according to specific time intervals, thus establishing a coherent time-series for analysis.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669118" y="4248150"/>
            <a:ext cx="323850" cy="32385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983154" y="4248150"/>
            <a:ext cx="323850" cy="323850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297189" y="4248150"/>
            <a:ext cx="323850" cy="323850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611225" y="4248150"/>
            <a:ext cx="323850" cy="323850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Pipeline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Dataset Construction Overview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Dataset Schema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Variables for Analysis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606675"/>
            <a:chOff x="0" y="0"/>
            <a:chExt cx="5744662" cy="34755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Rainfall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396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Rainfall is measured as a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continuous variable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collected at daily or monthly temporal resolutions, serving as a primary predictor of crop yield in the analysis.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578100"/>
            <a:chOff x="0" y="0"/>
            <a:chExt cx="5346700" cy="3437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Temperature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357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Temperature data is also treated as a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continuous variable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collected at daily or monthly resolutions, influencing crop growth and yield outcomes alongside rainfall metrics.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30525"/>
            <a:chOff x="0" y="0"/>
            <a:chExt cx="5346700" cy="39073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 Yield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2827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Crop yield is recorded as a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continuous variable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tracked on a seasonal or annual basis, representing the target outcome for the machine learning models used in forecasting.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Temporal Lag Construction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Rainfall Lag Dependency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Yield Relationships with Rainfall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197100"/>
            <a:chOff x="0" y="0"/>
            <a:chExt cx="7670800" cy="2929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Yield Function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function Yield_t = f(R(t-1), R(t-2), ..., R(t-k) illustrates how yield is influenced by precipitation across multiple lags, reflecting delayed crop responses to rainfall.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197100"/>
            <a:chOff x="0" y="0"/>
            <a:chExt cx="7264400" cy="2929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Rain Lag Matrix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notation X_rain = [R(t-1), R(t-2), ..., R(t-k)] organizes historical rainfall data into a structured matrix, aiding in the analysis of temporal effects on crop yield.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Analytical and Machine Learning Framework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Candidate Model Families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Approaches for Effective Crop Yield Forecasting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254250"/>
            <a:chOff x="0" y="0"/>
            <a:chExt cx="7670800" cy="30056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Baseline Models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926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Baseline models such as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Linear Regression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and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Random Forest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provide foundational approaches, focusing on simplicity and interpretability while establishing initial benchmarks for yield predictions.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225675"/>
            <a:chOff x="0" y="0"/>
            <a:chExt cx="7264400" cy="29675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Nonlinear Models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888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Nonlinear machine learning models like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XGBoost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leverage complex data patterns, allowing for better performance in capturing intricate relationships between rainfall data and crop yields.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Experimental Design Overview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Independent Variables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 Comprehensive Overview of Yield Factors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901950"/>
            <a:chOff x="0" y="0"/>
            <a:chExt cx="5744662" cy="38692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Rainfall Representation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study considers multiple rainfall representations, including contemporaneous, cumulative, and lagged features, to assess their impact on crop yield prediction accuracy throughout the growing season.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01950"/>
            <a:chOff x="0" y="0"/>
            <a:chExt cx="5346700" cy="38692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Dependent Variable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Crop yield serves as the primary dependent variable, with measurements taken seasonally and annually, reflecting the overall agricultural productivity influenced by various climatic factors in Kerala.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01950"/>
            <a:chOff x="0" y="0"/>
            <a:chExt cx="5346700" cy="38692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Control and Baseline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control model utilizes non-lagged climatic features, allowing for a comparative analysis against lag-aware models to evaluate the effectiveness of incorporating rainfall lag structures in predictions.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Baseline and Proposed Models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30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Baseline vs. Proposed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Comparing predictive modeling frameworks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197100"/>
            <a:chOff x="0" y="0"/>
            <a:chExt cx="7670800" cy="2929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Baseline Representation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baseline model is formulated as Yield_t = f(R_t, T_t, ...), emphasizing contemporaneous rainfall and temperature without accounting for temporal lag effects on yield prediction.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197100"/>
            <a:chOff x="0" y="0"/>
            <a:chExt cx="7264400" cy="2929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Proposed Representation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proposed model expands to Yield_t = f(R_t, R(t-1), R(t-2), ..., R(t-k), T_t, ...), integrating multiple rainfall lags to enhance predictive accuracy and better capture delayed responses.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Ablation Study Overview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5A47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510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Experiments Isolating Temporal Lag Contribution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34675" y="6944836"/>
            <a:ext cx="6886575" cy="1370648"/>
            <a:chOff x="0" y="0"/>
            <a:chExt cx="9182100" cy="182753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Lagged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Analyzes short and long-term rainfall influences.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1553369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34675" y="4248150"/>
            <a:ext cx="6886575" cy="1370648"/>
            <a:chOff x="0" y="0"/>
            <a:chExt cx="9182100" cy="182753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Cumulative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Assesses total rainfall effects over time.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4675" y="1562100"/>
            <a:ext cx="6886575" cy="1370648"/>
            <a:chOff x="0" y="0"/>
            <a:chExt cx="9182100" cy="18275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Contemporaneous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Evaluates immediate rainfall impact on yield.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Explainability in Crop Yield Models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6545058" cy="8953500"/>
            <a:chOff x="0" y="0"/>
            <a:chExt cx="768828" cy="1051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828" cy="1051741"/>
            </a:xfrm>
            <a:custGeom>
              <a:avLst/>
              <a:gdLst/>
              <a:ahLst/>
              <a:cxnLst/>
              <a:rect r="r" b="b" t="t" l="l"/>
              <a:pathLst>
                <a:path h="1051741" w="768828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14" r="0" b="-41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733425"/>
            <a:ext cx="8324850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Rainfall Lag Contributions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7854950"/>
            <a:ext cx="8324850" cy="176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section visually represents how different </a:t>
            </a:r>
            <a:r>
              <a:rPr lang="en-US" b="true" sz="2499" spc="-37" strike="noStrike" u="none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rainfall lags</a:t>
            </a:r>
            <a:r>
              <a:rPr lang="en-US" sz="2499" spc="-3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contribute to yield predictions, using SHAP-based feature attribution to highlight the importance of temporal rainfall effects in crop forecasting.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Expected Research Contributions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6318250"/>
            <a:chOff x="0" y="0"/>
            <a:chExt cx="13017500" cy="84243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7217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study aims to provide: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systematic representation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rainfall-yield temporal lag structures.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empirical evaluation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the impact of lag-aware precipitation features on yield prediction.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comparative analysis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crop-specific lag responses to weather variations.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explainable characterization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critical rainfall exposure windows influencing crop yield.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reproducible experimental framework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for climate-aware crop forecasting, enabling further research and application within agricultural practices in Kerala.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Expected contributions to agricultural forecasting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Limitations and Threats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6127750"/>
            <a:chOff x="0" y="0"/>
            <a:chExt cx="13017500" cy="81703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6963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Data availability and completeness may hinder accurate predictions.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Spatial aggregation across districts can obscure localized variations.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Confounding agricultural factors such as crop management practices influence outcomes.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Irrigation effects complicate the understanding of rainfall impacts.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Variability in fertilizer and input usage can skew results.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Extreme weather events may introduce unpredictability in yield responses.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Non-stationarity under climate change raises questions about model stability.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Potential temporal leakage between training and test datasets must be mitigated.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Limitations and Threats to Validity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118" y="3367087"/>
            <a:ext cx="544593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Phase 1: Data Acquisition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9118" y="5105400"/>
            <a:ext cx="5445932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this phase, researchers will gather extensive historical data on rainfall, temperature, and crop yields across various districts in Kerala, ensuring comprehensive coverage for analysis.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19850" y="3367087"/>
            <a:ext cx="544618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Phase 2: Preprocessing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21966" y="5105400"/>
            <a:ext cx="5446184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collected data will undergo rigorous cleaning and preprocessing to address missing values, standardize formats, and ensure alignment with the temporal resolution of interest.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2950" y="2967037"/>
            <a:ext cx="54483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Phase 3: Temporal Feature Construction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2950" y="5105400"/>
            <a:ext cx="5448300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Researchers will construct lagged rainfall features utilizing historical data, creating a structured temporal feature space that captures delayed precipitation effects for improved yield modeling.</a:t>
            </a:r>
          </a:p>
        </p:txBody>
      </p:sp>
      <p:sp>
        <p:nvSpPr>
          <p:cNvPr name="AutoShape 8" id="8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669118" y="4248150"/>
            <a:ext cx="323850" cy="32385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21966" y="4248150"/>
            <a:ext cx="323850" cy="32385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172950" y="4248150"/>
            <a:ext cx="323850" cy="323850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Timeline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8392160"/>
            <a:ext cx="8324850" cy="122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Integrating insights for sustainable agriculture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389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Framework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Rainfall-Lag-Aware Crop Yield Forecasting</dc:description>
  <dc:identifier>DAHVph9vZ1U</dc:identifier>
  <dcterms:modified xsi:type="dcterms:W3CDTF">2011-08-01T06:04:30Z</dcterms:modified>
  <cp:revision>1</cp:revision>
  <dc:title>Presentation - Rainfall-Lag-Aware Crop Yield Forecasting</dc:title>
</cp:coreProperties>
</file>