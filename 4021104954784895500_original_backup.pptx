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x="18288000" cy="10287000"/>
  <p:notesSz cx="6858000" cy="9144000"/>
  <p:embeddedFontLst>
    <p:embeddedFont>
      <p:font typeface="Helvetica World" charset="1" panose="020B0500040000020004"/>
      <p:regular r:id="rId46"/>
    </p:embeddedFont>
    <p:embeddedFont>
      <p:font typeface="Georgia Pro Condensed" charset="1" panose="02040506050405020303"/>
      <p:regular r:id="rId47"/>
    </p:embeddedFont>
    <p:embeddedFont>
      <p:font typeface="Helvetica World Bold" charset="1" panose="020B0800040000020004"/>
      <p:regular r:id="rId4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fonts/font46.fntdata" Type="http://schemas.openxmlformats.org/officeDocument/2006/relationships/font"/><Relationship Id="rId47" Target="fonts/font47.fntdata" Type="http://schemas.openxmlformats.org/officeDocument/2006/relationships/font"/><Relationship Id="rId48" Target="fonts/font48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2700"/>
            <a:ext cx="11201400" cy="10299700"/>
            <a:chOff x="0" y="0"/>
            <a:chExt cx="963348" cy="8857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3348" cy="885799"/>
            </a:xfrm>
            <a:custGeom>
              <a:avLst/>
              <a:gdLst/>
              <a:ahLst/>
              <a:cxnLst/>
              <a:rect r="r" b="b" t="t" l="l"/>
              <a:pathLst>
                <a:path h="885799" w="963348">
                  <a:moveTo>
                    <a:pt x="0" y="0"/>
                  </a:moveTo>
                  <a:lnTo>
                    <a:pt x="963348" y="0"/>
                  </a:lnTo>
                  <a:lnTo>
                    <a:pt x="963348" y="885799"/>
                  </a:lnTo>
                  <a:lnTo>
                    <a:pt x="0" y="885799"/>
                  </a:lnTo>
                  <a:close/>
                </a:path>
              </a:pathLst>
            </a:custGeom>
            <a:solidFill>
              <a:srgbClr val="F7F6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868150" y="666750"/>
            <a:ext cx="5753100" cy="8953500"/>
            <a:chOff x="0" y="0"/>
            <a:chExt cx="814724" cy="12679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4724" cy="1267949"/>
            </a:xfrm>
            <a:custGeom>
              <a:avLst/>
              <a:gdLst/>
              <a:ahLst/>
              <a:cxnLst/>
              <a:rect r="r" b="b" t="t" l="l"/>
              <a:pathLst>
                <a:path h="1267949" w="814724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66750" y="9011285"/>
            <a:ext cx="6886575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0"/>
              </a:lnSpc>
            </a:pPr>
            <a:r>
              <a:rPr lang="en-US" sz="3800" spc="-57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Sankar S Pillai, Martin Wills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5380" y="889343"/>
            <a:ext cx="9754495" cy="410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575"/>
              </a:lnSpc>
            </a:pPr>
            <a:r>
              <a:rPr lang="en-US" sz="10575" spc="-370" strike="noStrike" u="none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Rainfall-Lag-Aware Crop Yield Forecasting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3117037">
            <a:off x="8947742" y="765609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1"/>
                </a:lnTo>
                <a:lnTo>
                  <a:pt x="0" y="18590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Research Context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05025" y="1562100"/>
            <a:ext cx="9763125" cy="6718300"/>
            <a:chOff x="0" y="0"/>
            <a:chExt cx="13017500" cy="895773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206500"/>
              <a:ext cx="13017500" cy="77512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Kerala's agriculture is heavily reliant on seasonal rainfall, making it vulnerable to climatic variability. Key points include: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Dependence on Monsoons:</a:t>
              </a: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The southwest monsoon is critical for crop growth.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Interannual Variability:</a:t>
              </a: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Fluctuations in rainfall patterns can disrupt planting schedules.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Crop Sensitivity:</a:t>
              </a: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Varieties respond differently to moisture levels, impacting yield.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Decision-Making Needs:</a:t>
              </a: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Accurate forecasting is essential for planning and resource allocation.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Understanding these factors is crucial for developing effective rainfall-lag-aware yield forecasting models tailored to the region's specific needs.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0"/>
              <a:ext cx="130175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Understanding Kerala's climate and agriculture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05025" y="1562100"/>
            <a:ext cx="9763125" cy="5251450"/>
            <a:chOff x="0" y="0"/>
            <a:chExt cx="13017500" cy="700193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206500"/>
              <a:ext cx="13017500" cy="57954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Timely forecasts enable proactive measures for resource allocation.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Accurate predictions enhance food security and economic stability.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Supports farmers in optimizing planting and harvesting schedules.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Facilitates effective risk management against adverse weather events.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Empowers stakeholders to make informed decisions regarding crop selection.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Contributes to sustainable agricultural practices by minimizing waste.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Enhances overall productivity and profitability of farming operations.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0"/>
              <a:ext cx="130175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Key Insights into Agricultural Yield Forecasting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5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Problem Formulation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6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3249275" cy="2067009"/>
            <a:chOff x="0" y="0"/>
            <a:chExt cx="17665700" cy="27560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6657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333333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Causal Chain Analysis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665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Temporal Lag Effects on Crop Yield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00225" y="5143500"/>
            <a:ext cx="4308497" cy="2959100"/>
            <a:chOff x="0" y="0"/>
            <a:chExt cx="5744662" cy="394546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525"/>
              <a:ext cx="5744662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Input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79500"/>
              <a:ext cx="5744662" cy="2865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model inputs </a:t>
              </a:r>
              <a:r>
                <a:rPr lang="en-US" b="true" sz="2000" spc="-30" strike="noStrike" u="none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historical rainfall and meteorological data</a:t>
              </a: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to understand how previous precipitation affects crop yields, emphasizing the significance of data accuracy and relevance.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291388" y="5143500"/>
            <a:ext cx="4010025" cy="2959100"/>
            <a:chOff x="0" y="0"/>
            <a:chExt cx="5346700" cy="394546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525"/>
              <a:ext cx="53467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Temporal Exposure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079500"/>
              <a:ext cx="5346700" cy="2865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Rainfall exposure over </a:t>
              </a:r>
              <a:r>
                <a:rPr lang="en-US" b="true" sz="2000" spc="-30" strike="noStrike" u="none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multiple preceding time intervals</a:t>
              </a: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is crucial in capturing delayed physiological responses, allowing for a more comprehensive understanding of crop yield dynamics.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172950" y="5143500"/>
            <a:ext cx="4010025" cy="3254375"/>
            <a:chOff x="0" y="0"/>
            <a:chExt cx="5346700" cy="4339167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9525"/>
              <a:ext cx="53467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Crop Response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079500"/>
              <a:ext cx="5346700" cy="32596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physiological and agronomic reactions of crops to varying rainfall lag structures illustrate the complexity of relationships influencing overall yield outcomes, necessitating robust analysis for predictions.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7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Existing Approaches Overview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8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9763125" cy="4219575"/>
            <a:chOff x="0" y="0"/>
            <a:chExt cx="13017500" cy="562610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66675"/>
              <a:ext cx="13017500" cy="45264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lang="en-US" sz="8000" spc="-240">
                  <a:solidFill>
                    <a:srgbClr val="333333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Comparison of Statistical and Machine Learning Models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5067300"/>
              <a:ext cx="130175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Evaluating Approaches to Crop Yield Forecasting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66750" y="7816850"/>
            <a:ext cx="8324850" cy="180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This page examines the strengths and limitations of </a:t>
            </a:r>
            <a:r>
              <a:rPr lang="en-US" b="true" sz="2499" spc="-37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conventional statistical</a:t>
            </a:r>
            <a:r>
              <a:rPr lang="en-US" sz="2499" spc="-37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models versus </a:t>
            </a:r>
            <a:r>
              <a:rPr lang="en-US" b="true" sz="2499" spc="-37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standard machine-learning</a:t>
            </a:r>
            <a:r>
              <a:rPr lang="en-US" sz="2499" spc="-37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approaches in crop yield forecasting, highlighting their different capabilities regarding temporal lag.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172950" y="5316715"/>
            <a:ext cx="5448300" cy="4303535"/>
            <a:chOff x="0" y="0"/>
            <a:chExt cx="1175568" cy="9285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75568" cy="928565"/>
            </a:xfrm>
            <a:custGeom>
              <a:avLst/>
              <a:gdLst/>
              <a:ahLst/>
              <a:cxnLst/>
              <a:rect r="r" b="b" t="t" l="l"/>
              <a:pathLst>
                <a:path h="928565" w="1175568">
                  <a:moveTo>
                    <a:pt x="28420" y="0"/>
                  </a:moveTo>
                  <a:lnTo>
                    <a:pt x="1147149" y="0"/>
                  </a:lnTo>
                  <a:cubicBezTo>
                    <a:pt x="1154686" y="0"/>
                    <a:pt x="1161915" y="2994"/>
                    <a:pt x="1167244" y="8324"/>
                  </a:cubicBezTo>
                  <a:cubicBezTo>
                    <a:pt x="1172574" y="13654"/>
                    <a:pt x="1175568" y="20882"/>
                    <a:pt x="1175568" y="28420"/>
                  </a:cubicBezTo>
                  <a:lnTo>
                    <a:pt x="1175568" y="900145"/>
                  </a:lnTo>
                  <a:cubicBezTo>
                    <a:pt x="1175568" y="915841"/>
                    <a:pt x="1162845" y="928565"/>
                    <a:pt x="1147149" y="928565"/>
                  </a:cubicBezTo>
                  <a:lnTo>
                    <a:pt x="28420" y="928565"/>
                  </a:lnTo>
                  <a:cubicBezTo>
                    <a:pt x="12724" y="928565"/>
                    <a:pt x="0" y="915841"/>
                    <a:pt x="0" y="900145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blipFill>
              <a:blip r:embed="rId2"/>
              <a:stretch>
                <a:fillRect l="-151" t="0" r="-151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2172950" y="666750"/>
            <a:ext cx="5448300" cy="4345165"/>
            <a:chOff x="0" y="0"/>
            <a:chExt cx="1484382" cy="118383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84382" cy="1183835"/>
            </a:xfrm>
            <a:custGeom>
              <a:avLst/>
              <a:gdLst/>
              <a:ahLst/>
              <a:cxnLst/>
              <a:rect r="r" b="b" t="t" l="l"/>
              <a:pathLst>
                <a:path h="1183835" w="1484382">
                  <a:moveTo>
                    <a:pt x="28420" y="0"/>
                  </a:moveTo>
                  <a:lnTo>
                    <a:pt x="1455963" y="0"/>
                  </a:lnTo>
                  <a:cubicBezTo>
                    <a:pt x="1471658" y="0"/>
                    <a:pt x="1484382" y="12724"/>
                    <a:pt x="1484382" y="28420"/>
                  </a:cubicBezTo>
                  <a:lnTo>
                    <a:pt x="1484382" y="1155415"/>
                  </a:lnTo>
                  <a:cubicBezTo>
                    <a:pt x="1484382" y="1171111"/>
                    <a:pt x="1471658" y="1183835"/>
                    <a:pt x="1455963" y="1183835"/>
                  </a:cubicBezTo>
                  <a:lnTo>
                    <a:pt x="28420" y="1183835"/>
                  </a:lnTo>
                  <a:cubicBezTo>
                    <a:pt x="20882" y="1183835"/>
                    <a:pt x="13654" y="1180840"/>
                    <a:pt x="8324" y="1175511"/>
                  </a:cubicBezTo>
                  <a:cubicBezTo>
                    <a:pt x="2994" y="1170181"/>
                    <a:pt x="0" y="1162952"/>
                    <a:pt x="0" y="1155415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blipFill>
              <a:blip r:embed="rId3"/>
              <a:stretch>
                <a:fillRect l="-636" t="0" r="-636" b="0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9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9763125" cy="3105150"/>
            <a:chOff x="0" y="0"/>
            <a:chExt cx="13017500" cy="414020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66675"/>
              <a:ext cx="13017500" cy="30405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lang="en-US" sz="8000" spc="-240">
                  <a:solidFill>
                    <a:srgbClr val="333333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Comparison of Temporal Approaches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3581400"/>
              <a:ext cx="130175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Examining Time-Series and Climate-Informed Models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66750" y="7893050"/>
            <a:ext cx="8324850" cy="172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pc="-37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This section outlines the distinctions between time-series approaches and climate-informed models, emphasizing their methodologies, strengths, and limitations in addressing rainfall-lag-aware crop yield forecasting.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172950" y="5316715"/>
            <a:ext cx="5448300" cy="4303535"/>
            <a:chOff x="0" y="0"/>
            <a:chExt cx="1175568" cy="9285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75568" cy="928565"/>
            </a:xfrm>
            <a:custGeom>
              <a:avLst/>
              <a:gdLst/>
              <a:ahLst/>
              <a:cxnLst/>
              <a:rect r="r" b="b" t="t" l="l"/>
              <a:pathLst>
                <a:path h="928565" w="1175568">
                  <a:moveTo>
                    <a:pt x="28420" y="0"/>
                  </a:moveTo>
                  <a:lnTo>
                    <a:pt x="1147149" y="0"/>
                  </a:lnTo>
                  <a:cubicBezTo>
                    <a:pt x="1154686" y="0"/>
                    <a:pt x="1161915" y="2994"/>
                    <a:pt x="1167244" y="8324"/>
                  </a:cubicBezTo>
                  <a:cubicBezTo>
                    <a:pt x="1172574" y="13654"/>
                    <a:pt x="1175568" y="20882"/>
                    <a:pt x="1175568" y="28420"/>
                  </a:cubicBezTo>
                  <a:lnTo>
                    <a:pt x="1175568" y="900145"/>
                  </a:lnTo>
                  <a:cubicBezTo>
                    <a:pt x="1175568" y="915841"/>
                    <a:pt x="1162845" y="928565"/>
                    <a:pt x="1147149" y="928565"/>
                  </a:cubicBezTo>
                  <a:lnTo>
                    <a:pt x="28420" y="928565"/>
                  </a:lnTo>
                  <a:cubicBezTo>
                    <a:pt x="12724" y="928565"/>
                    <a:pt x="0" y="915841"/>
                    <a:pt x="0" y="900145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blipFill>
              <a:blip r:embed="rId2"/>
              <a:stretch>
                <a:fillRect l="-151" t="0" r="-151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2172950" y="666750"/>
            <a:ext cx="5448300" cy="4345165"/>
            <a:chOff x="0" y="0"/>
            <a:chExt cx="1484382" cy="118383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84382" cy="1183835"/>
            </a:xfrm>
            <a:custGeom>
              <a:avLst/>
              <a:gdLst/>
              <a:ahLst/>
              <a:cxnLst/>
              <a:rect r="r" b="b" t="t" l="l"/>
              <a:pathLst>
                <a:path h="1183835" w="1484382">
                  <a:moveTo>
                    <a:pt x="28420" y="0"/>
                  </a:moveTo>
                  <a:lnTo>
                    <a:pt x="1455963" y="0"/>
                  </a:lnTo>
                  <a:cubicBezTo>
                    <a:pt x="1471658" y="0"/>
                    <a:pt x="1484382" y="12724"/>
                    <a:pt x="1484382" y="28420"/>
                  </a:cubicBezTo>
                  <a:lnTo>
                    <a:pt x="1484382" y="1155415"/>
                  </a:lnTo>
                  <a:cubicBezTo>
                    <a:pt x="1484382" y="1171111"/>
                    <a:pt x="1471658" y="1183835"/>
                    <a:pt x="1455963" y="1183835"/>
                  </a:cubicBezTo>
                  <a:lnTo>
                    <a:pt x="28420" y="1183835"/>
                  </a:lnTo>
                  <a:cubicBezTo>
                    <a:pt x="20882" y="1183835"/>
                    <a:pt x="13654" y="1180840"/>
                    <a:pt x="8324" y="1175511"/>
                  </a:cubicBezTo>
                  <a:cubicBezTo>
                    <a:pt x="2994" y="1170181"/>
                    <a:pt x="0" y="1162952"/>
                    <a:pt x="0" y="1155415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blipFill>
              <a:blip r:embed="rId3"/>
              <a:stretch>
                <a:fillRect l="-636" t="0" r="-636" b="0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10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261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Research Gap: Temporal Lag Structure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05025" y="1562100"/>
            <a:ext cx="9763125" cy="5441950"/>
            <a:chOff x="0" y="0"/>
            <a:chExt cx="13017500" cy="725593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206500"/>
              <a:ext cx="13017500" cy="60494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Existing crop-yield prediction approaches frequently represent precipitation using </a:t>
              </a: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contemporaneous</a:t>
              </a: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or aggregated features. This methodology potentially obscures delayed and crop-specific rainfall responses. The contributions of rainfall at various time lags—such as t-1, t-2, t-4, and t-8—remain largely </a:t>
              </a: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unknown</a:t>
              </a: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. This lack of representation can lead to inaccurate yield forecasts, as it does not account for the complex physiological and agronomic responses of crops to </a:t>
              </a: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delayed precipitation</a:t>
              </a: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. A more nuanced approach that incorporates lagged rainfall data is crucial for improving the accuracy of yield predictions in </a:t>
              </a: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Kerala's agricultural landscape</a:t>
              </a: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0"/>
              <a:ext cx="130175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Understanding the limitations of existing models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05025" y="1562100"/>
            <a:ext cx="9763125" cy="5689600"/>
            <a:chOff x="0" y="0"/>
            <a:chExt cx="13017500" cy="758613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206500"/>
              <a:ext cx="13017500" cy="63796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research question addresses how lagged rainfall exposures contribute to yield prediction. This involves: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Analyzing the effects of rainfall at various lag times (t-1, t-2, t-3, etc.)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Determining if these lagged variables provide significant predictive power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Identifying crop-specific responses to delayed rainfall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Evaluating the influence of interannual climatic variability on lag effects</a:t>
              </a:r>
            </a:p>
            <a:p>
              <a:pPr algn="l" marL="0" indent="0" lvl="0">
                <a:lnSpc>
                  <a:spcPts val="3499"/>
                </a:lnSpc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Understanding these aspects will enhance the accuracy of crop yield forecasts and offer actionable insights for agricultural planning in Kerala’s dynamic climate.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0"/>
              <a:ext cx="130175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Exploring the impact of rainfall lag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13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Research Questions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206963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69630" cy="2709333"/>
            </a:xfrm>
            <a:custGeom>
              <a:avLst/>
              <a:gdLst/>
              <a:ahLst/>
              <a:cxnLst/>
              <a:rect r="r" b="b" t="t" l="l"/>
              <a:pathLst>
                <a:path h="2709333" w="2069630">
                  <a:moveTo>
                    <a:pt x="0" y="0"/>
                  </a:moveTo>
                  <a:lnTo>
                    <a:pt x="2069630" y="0"/>
                  </a:lnTo>
                  <a:lnTo>
                    <a:pt x="206963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85A47C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69630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6750" y="809625"/>
            <a:ext cx="5448300" cy="3089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Research Questions Overview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708153" y="7606302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734675" y="6944836"/>
            <a:ext cx="6886575" cy="1780223"/>
            <a:chOff x="0" y="0"/>
            <a:chExt cx="9182100" cy="237363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Informative Lags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304714"/>
              <a:ext cx="9182100" cy="1068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Identifying specific lags optimizes forecasting accuracy effectively.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296400" y="425005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296400" y="1553369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96400" y="693610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03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734675" y="4248150"/>
            <a:ext cx="6886575" cy="1780223"/>
            <a:chOff x="0" y="0"/>
            <a:chExt cx="9182100" cy="2373630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 strike="noStrike" u="none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Contemporaneous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1304714"/>
              <a:ext cx="9182100" cy="1068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Contemporaneous features may overlook critical rainfall impacts.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734675" y="1562100"/>
            <a:ext cx="6886575" cy="1780223"/>
            <a:chOff x="0" y="0"/>
            <a:chExt cx="9182100" cy="2373630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Lag-Aware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304714"/>
              <a:ext cx="9182100" cy="1068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Lag-aware features enhance predictive capabilities significantly.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206963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69630" cy="2709333"/>
            </a:xfrm>
            <a:custGeom>
              <a:avLst/>
              <a:gdLst/>
              <a:ahLst/>
              <a:cxnLst/>
              <a:rect r="r" b="b" t="t" l="l"/>
              <a:pathLst>
                <a:path h="2709333" w="2069630">
                  <a:moveTo>
                    <a:pt x="0" y="0"/>
                  </a:moveTo>
                  <a:lnTo>
                    <a:pt x="2069630" y="0"/>
                  </a:lnTo>
                  <a:lnTo>
                    <a:pt x="206963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85A47C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69630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6750" y="809625"/>
            <a:ext cx="5448300" cy="2079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Optimal Lag Structures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708153" y="7606302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734675" y="6944836"/>
            <a:ext cx="6886575" cy="1780223"/>
            <a:chOff x="0" y="0"/>
            <a:chExt cx="9182100" cy="237363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Explainability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304714"/>
              <a:ext cx="9182100" cy="1068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Machine learning can clarify rainfall-yield relationships.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296400" y="425005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296400" y="1553369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96400" y="693610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03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734675" y="4248150"/>
            <a:ext cx="6886575" cy="1780223"/>
            <a:chOff x="0" y="0"/>
            <a:chExt cx="9182100" cy="2373630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 strike="noStrike" u="none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Climate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1304714"/>
              <a:ext cx="9182100" cy="1068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Climatic conditions influence lag contributions to yield.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734675" y="1562100"/>
            <a:ext cx="6886575" cy="1370648"/>
            <a:chOff x="0" y="0"/>
            <a:chExt cx="9182100" cy="1827530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Crops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304714"/>
              <a:ext cx="9182100" cy="522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Different crops respond uniquely to rainfall lags.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16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Research Hypotheses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17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2944475" cy="3581400"/>
            <a:chOff x="0" y="0"/>
            <a:chExt cx="17259300" cy="47752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333333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Lagged Rainfall Features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2593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Improving Crop Yield Prediction Accuracy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069166"/>
              <a:ext cx="13512134" cy="17060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Incorporating lagged rainfall features into models is expected to reduce prediction errors by capturing the delayed effects of precipitation, enhancing the accuracy of crop yield forecasts.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18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2944475" cy="3581400"/>
            <a:chOff x="0" y="0"/>
            <a:chExt cx="17259300" cy="47752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333333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Rainfall Contributions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2593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Crop-Specific Temporal Lag Structures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069166"/>
              <a:ext cx="13512134" cy="17060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Understanding the unique temporal lag structures of rainfall can enhance crop yield prediction, offering tailored insights that improve model robustness under varying climatic conditions in Kerala.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19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Proposed Methodology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9118" y="3367087"/>
            <a:ext cx="4007657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 spc="-37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Data Acquisition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9118" y="5105400"/>
            <a:ext cx="4007657" cy="2101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 spc="-30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This stage involves gathering comprehensive datasets, including historical rainfall and crop yield information, to build a robust foundation for subsequent analyses and model development.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981575" y="3367087"/>
            <a:ext cx="4010025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 spc="-37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Data Cleaning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616434" y="3323432"/>
            <a:ext cx="4003106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 spc="-37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Lag Feature Construction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981575" y="5105400"/>
            <a:ext cx="4010025" cy="2101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 spc="-30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 this phase, the collected data will be meticulously reviewed and cleaned to remove inconsistencies, missing values, and outliers, ensuring high-quality data for accurate forecasting.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11225" y="5105400"/>
            <a:ext cx="4003106" cy="2101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 spc="-30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This crucial step involves generating lagged rainfall features, allowing us to capture the delayed effects of precipitation on crop yield, thereby enhancing predictive model performance.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296400" y="3367087"/>
            <a:ext cx="3807849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 spc="-37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Temporal Alignment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297189" y="5105400"/>
            <a:ext cx="4009236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 spc="-30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Here, we will align the temporal datasets, synchronizing rainfall and crop yield data according to specific time intervals, thus establishing a coherent time-series for analysis.</a:t>
            </a:r>
          </a:p>
        </p:txBody>
      </p:sp>
      <p:sp>
        <p:nvSpPr>
          <p:cNvPr name="AutoShape 10" id="10"/>
          <p:cNvSpPr/>
          <p:nvPr/>
        </p:nvSpPr>
        <p:spPr>
          <a:xfrm>
            <a:off x="992968" y="4410075"/>
            <a:ext cx="17607376" cy="0"/>
          </a:xfrm>
          <a:prstGeom prst="line">
            <a:avLst/>
          </a:prstGeom>
          <a:ln cap="flat" w="19050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669118" y="4248150"/>
            <a:ext cx="323850" cy="323850"/>
            <a:chOff x="0" y="0"/>
            <a:chExt cx="6350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4983154" y="4248150"/>
            <a:ext cx="323850" cy="323850"/>
            <a:chOff x="0" y="0"/>
            <a:chExt cx="6350000" cy="635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297189" y="4248150"/>
            <a:ext cx="323850" cy="323850"/>
            <a:chOff x="0" y="0"/>
            <a:chExt cx="6350000" cy="6350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611225" y="4248150"/>
            <a:ext cx="323850" cy="323850"/>
            <a:chOff x="0" y="0"/>
            <a:chExt cx="6350000" cy="6350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666750" y="809625"/>
            <a:ext cx="16954500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Research Pipeline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21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Dataset Construction Overview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22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3249275" cy="2067009"/>
            <a:chOff x="0" y="0"/>
            <a:chExt cx="17665700" cy="27560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6657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333333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Dataset Schema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665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Key Variables for Analysis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00225" y="5143500"/>
            <a:ext cx="4308497" cy="2606675"/>
            <a:chOff x="0" y="0"/>
            <a:chExt cx="5744662" cy="347556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525"/>
              <a:ext cx="5744662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Rainfall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79500"/>
              <a:ext cx="5744662" cy="23960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Rainfall is measured as a </a:t>
              </a:r>
              <a:r>
                <a:rPr lang="en-US" b="true" sz="2000" spc="-30" strike="noStrike" u="none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continuous variable</a:t>
              </a: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, collected at daily or monthly temporal resolutions, serving as a primary predictor of crop yield in the analysis.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291388" y="5143500"/>
            <a:ext cx="4010025" cy="2578100"/>
            <a:chOff x="0" y="0"/>
            <a:chExt cx="5346700" cy="343746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525"/>
              <a:ext cx="53467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Temperature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079500"/>
              <a:ext cx="5346700" cy="2357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Temperature data is also treated as a </a:t>
              </a:r>
              <a:r>
                <a:rPr lang="en-US" b="true" sz="2000" spc="-30" strike="noStrike" u="none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continuous variable</a:t>
              </a: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, collected at daily or monthly resolutions, influencing crop growth and yield outcomes alongside rainfall metrics.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172950" y="5143500"/>
            <a:ext cx="4010025" cy="2930525"/>
            <a:chOff x="0" y="0"/>
            <a:chExt cx="5346700" cy="3907367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9525"/>
              <a:ext cx="53467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Crop Yield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079500"/>
              <a:ext cx="5346700" cy="28278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Crop yield is recorded as a </a:t>
              </a:r>
              <a:r>
                <a:rPr lang="en-US" b="true" sz="2000" spc="-30" strike="noStrike" u="none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continuous variable</a:t>
              </a: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, tracked on a seasonal or annual basis, representing the target outcome for the machine learning models used in forecasting.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23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Temporal Lag Construction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24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2944475" cy="2067009"/>
            <a:chOff x="0" y="0"/>
            <a:chExt cx="17259300" cy="27560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333333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Rainfall Lag Dependency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2593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Understanding Yield Relationships with Rainfall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00225" y="5143500"/>
            <a:ext cx="5753100" cy="2197100"/>
            <a:chOff x="0" y="0"/>
            <a:chExt cx="7670800" cy="292946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525"/>
              <a:ext cx="76708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Yield Function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79500"/>
              <a:ext cx="7670800" cy="1849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function Yield_t = f(R(t-1), R(t-2), ..., R(t-k) illustrates how yield is influenced by precipitation across multiple lags, reflecting delayed crop responses to rainfall.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96400" y="5143500"/>
            <a:ext cx="5448300" cy="2197100"/>
            <a:chOff x="0" y="0"/>
            <a:chExt cx="7264400" cy="292946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525"/>
              <a:ext cx="72644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Rain Lag Matrix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079500"/>
              <a:ext cx="7264400" cy="1849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notation X_rain = [R(t-1), R(t-2), ..., R(t-k)] organizes historical rainfall data into a structured matrix, aiding in the analysis of temporal effects on crop yield.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25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261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Analytical and Machine Learning Framework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26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2944475" cy="2067009"/>
            <a:chOff x="0" y="0"/>
            <a:chExt cx="17259300" cy="27560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333333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Candidate Model Families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2593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Approaches for Effective Crop Yield Forecasting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00225" y="5143500"/>
            <a:ext cx="5753100" cy="2254250"/>
            <a:chOff x="0" y="0"/>
            <a:chExt cx="7670800" cy="300566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525"/>
              <a:ext cx="76708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Baseline Models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79500"/>
              <a:ext cx="7670800" cy="19261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Baseline models such as </a:t>
              </a:r>
              <a:r>
                <a:rPr lang="en-US" b="true" sz="2000" spc="-30" strike="noStrike" u="none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Linear Regression</a:t>
              </a: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and </a:t>
              </a:r>
              <a:r>
                <a:rPr lang="en-US" b="true" sz="2000" spc="-30" strike="noStrike" u="none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Random Forest</a:t>
              </a: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provide foundational approaches, focusing on simplicity and interpretability while establishing initial benchmarks for yield predictions.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96400" y="5143500"/>
            <a:ext cx="5448300" cy="2225675"/>
            <a:chOff x="0" y="0"/>
            <a:chExt cx="7264400" cy="296756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525"/>
              <a:ext cx="72644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Nonlinear Models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079500"/>
              <a:ext cx="7264400" cy="18880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Nonlinear machine learning models like </a:t>
              </a:r>
              <a:r>
                <a:rPr lang="en-US" b="true" sz="2000" spc="-30" strike="noStrike" u="none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XGBoost</a:t>
              </a: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leverage complex data patterns, allowing for better performance in capturing intricate relationships between rainfall data and crop yields.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27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Experimental Design Overview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28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3249275" cy="2067009"/>
            <a:chOff x="0" y="0"/>
            <a:chExt cx="17665700" cy="27560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6657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333333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Independent Variables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665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 Comprehensive Overview of Yield Factors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00225" y="5143500"/>
            <a:ext cx="4308497" cy="2901950"/>
            <a:chOff x="0" y="0"/>
            <a:chExt cx="5744662" cy="386926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525"/>
              <a:ext cx="5744662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Rainfall Representation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79500"/>
              <a:ext cx="5744662" cy="27897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study considers multiple rainfall representations, including contemporaneous, cumulative, and lagged features, to assess their impact on crop yield prediction accuracy throughout the growing season.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291388" y="5143500"/>
            <a:ext cx="4010025" cy="2901950"/>
            <a:chOff x="0" y="0"/>
            <a:chExt cx="5346700" cy="386926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525"/>
              <a:ext cx="53467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Dependent Variable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079500"/>
              <a:ext cx="5346700" cy="27897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Crop yield serves as the primary dependent variable, with measurements taken seasonally and annually, reflecting the overall agricultural productivity influenced by various climatic factors in Kerala.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172950" y="5143500"/>
            <a:ext cx="4010025" cy="2901950"/>
            <a:chOff x="0" y="0"/>
            <a:chExt cx="5346700" cy="3869267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9525"/>
              <a:ext cx="53467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Control and Baseline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079500"/>
              <a:ext cx="5346700" cy="27897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control model utilizes non-lagged climatic features, allowing for a comparative analysis against lag-aware models to evaluate the effectiveness of incorporating rainfall lag structures in predictions.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29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Baseline and Proposed Models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30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2944475" cy="2067009"/>
            <a:chOff x="0" y="0"/>
            <a:chExt cx="17259300" cy="27560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lang="en-US" sz="8000" spc="-240">
                  <a:solidFill>
                    <a:srgbClr val="333333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Baseline vs. Proposed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2593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lang="en-US" b="true" sz="2500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Comparing predictive modeling frameworks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00225" y="5143500"/>
            <a:ext cx="5753100" cy="2197100"/>
            <a:chOff x="0" y="0"/>
            <a:chExt cx="7670800" cy="292946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525"/>
              <a:ext cx="76708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Baseline Representation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79500"/>
              <a:ext cx="7670800" cy="1849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baseline model is formulated as Yield_t = f(R_t, T_t, ...), emphasizing contemporaneous rainfall and temperature without accounting for temporal lag effects on yield prediction.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96400" y="5143500"/>
            <a:ext cx="5448300" cy="2197100"/>
            <a:chOff x="0" y="0"/>
            <a:chExt cx="7264400" cy="292946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525"/>
              <a:ext cx="72644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Proposed Representation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079500"/>
              <a:ext cx="7264400" cy="1849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30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proposed model expands to Yield_t = f(R_t, R(t-1), R(t-2), ..., R(t-k), T_t, ...), integrating multiple rainfall lags to enhance predictive accuracy and better capture delayed responses.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31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Ablation Study Overview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206963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69630" cy="2709333"/>
            </a:xfrm>
            <a:custGeom>
              <a:avLst/>
              <a:gdLst/>
              <a:ahLst/>
              <a:cxnLst/>
              <a:rect r="r" b="b" t="t" l="l"/>
              <a:pathLst>
                <a:path h="2709333" w="2069630">
                  <a:moveTo>
                    <a:pt x="0" y="0"/>
                  </a:moveTo>
                  <a:lnTo>
                    <a:pt x="2069630" y="0"/>
                  </a:lnTo>
                  <a:lnTo>
                    <a:pt x="206963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85A47C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69630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6750" y="809625"/>
            <a:ext cx="5448300" cy="5108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Experiments Isolating Temporal Lag Contribution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708153" y="7606302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734675" y="6944836"/>
            <a:ext cx="6886575" cy="1370648"/>
            <a:chOff x="0" y="0"/>
            <a:chExt cx="9182100" cy="182753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Lagged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304714"/>
              <a:ext cx="9182100" cy="522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Analyzes short and long-term rainfall influences.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296400" y="425005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296400" y="1553369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96400" y="693610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03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734675" y="4248150"/>
            <a:ext cx="6886575" cy="1370648"/>
            <a:chOff x="0" y="0"/>
            <a:chExt cx="9182100" cy="1827530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 strike="noStrike" u="none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Cumulative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1304714"/>
              <a:ext cx="9182100" cy="522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Assesses total rainfall effects over time.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734675" y="1562100"/>
            <a:ext cx="6886575" cy="1370648"/>
            <a:chOff x="0" y="0"/>
            <a:chExt cx="9182100" cy="1827530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Contemporaneous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304714"/>
              <a:ext cx="9182100" cy="522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lang="en-US" sz="2499" spc="-37" strike="noStrike" u="none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Evaluates immediate rainfall impact on yield.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33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261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Explainability in Crop Yield Models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1031988" cy="13509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1988" cy="1350966"/>
            </a:xfrm>
            <a:custGeom>
              <a:avLst/>
              <a:gdLst/>
              <a:ahLst/>
              <a:cxnLst/>
              <a:rect r="r" b="b" t="t" l="l"/>
              <a:pathLst>
                <a:path h="1350966" w="1031988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6545058" cy="8953500"/>
            <a:chOff x="0" y="0"/>
            <a:chExt cx="768828" cy="105174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8828" cy="1051741"/>
            </a:xfrm>
            <a:custGeom>
              <a:avLst/>
              <a:gdLst/>
              <a:ahLst/>
              <a:cxnLst/>
              <a:rect r="r" b="b" t="t" l="l"/>
              <a:pathLst>
                <a:path h="1051741" w="768828">
                  <a:moveTo>
                    <a:pt x="53229" y="0"/>
                  </a:moveTo>
                  <a:lnTo>
                    <a:pt x="715599" y="0"/>
                  </a:lnTo>
                  <a:cubicBezTo>
                    <a:pt x="729717" y="0"/>
                    <a:pt x="743256" y="5608"/>
                    <a:pt x="753238" y="15590"/>
                  </a:cubicBezTo>
                  <a:cubicBezTo>
                    <a:pt x="763220" y="25573"/>
                    <a:pt x="768828" y="39112"/>
                    <a:pt x="768828" y="53229"/>
                  </a:cubicBezTo>
                  <a:lnTo>
                    <a:pt x="768828" y="998512"/>
                  </a:lnTo>
                  <a:cubicBezTo>
                    <a:pt x="768828" y="1027909"/>
                    <a:pt x="744997" y="1051741"/>
                    <a:pt x="715599" y="1051741"/>
                  </a:cubicBezTo>
                  <a:lnTo>
                    <a:pt x="53229" y="1051741"/>
                  </a:lnTo>
                  <a:cubicBezTo>
                    <a:pt x="39112" y="1051741"/>
                    <a:pt x="25573" y="1046133"/>
                    <a:pt x="15590" y="1036150"/>
                  </a:cubicBezTo>
                  <a:cubicBezTo>
                    <a:pt x="5608" y="1026168"/>
                    <a:pt x="0" y="1012629"/>
                    <a:pt x="0" y="998512"/>
                  </a:cubicBezTo>
                  <a:lnTo>
                    <a:pt x="0" y="53229"/>
                  </a:lnTo>
                  <a:cubicBezTo>
                    <a:pt x="0" y="23831"/>
                    <a:pt x="23831" y="0"/>
                    <a:pt x="53229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414" r="0" b="-414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296400" y="733425"/>
            <a:ext cx="8324850" cy="226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Rainfall Lag Contributions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296400" y="7854950"/>
            <a:ext cx="8324850" cy="176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pc="-37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This section visually represents how different </a:t>
            </a:r>
            <a:r>
              <a:rPr lang="en-US" b="true" sz="2499" spc="-37" strike="noStrike" u="none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rainfall lags</a:t>
            </a:r>
            <a:r>
              <a:rPr lang="en-US" sz="2499" spc="-37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contribute to yield predictions, using SHAP-based feature attribution to highlight the importance of temporal rainfall effects in crop forecasting.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35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Expected Research Contributions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05025" y="1562100"/>
            <a:ext cx="9763125" cy="6318250"/>
            <a:chOff x="0" y="0"/>
            <a:chExt cx="13017500" cy="842433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206500"/>
              <a:ext cx="13017500" cy="72178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The study aims to provide: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 </a:t>
              </a: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systematic representation</a:t>
              </a: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of rainfall-yield temporal lag structures.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An </a:t>
              </a: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empirical evaluation</a:t>
              </a: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of the impact of lag-aware precipitation features on yield prediction.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 </a:t>
              </a: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comparative analysis</a:t>
              </a: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of crop-specific lag responses to weather variations.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An </a:t>
              </a: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explainable characterization</a:t>
              </a: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of critical rainfall exposure windows influencing crop yield.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 </a:t>
              </a:r>
              <a:r>
                <a:rPr lang="en-US" b="true" sz="2499" spc="-37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reproducible experimental framework</a:t>
              </a: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for climate-aware crop forecasting, enabling further research and application within agricultural practices in Kerala.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0"/>
              <a:ext cx="130175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Expected contributions to agricultural forecasting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37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Limitations and Threats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05025" y="1562100"/>
            <a:ext cx="9763125" cy="6127750"/>
            <a:chOff x="0" y="0"/>
            <a:chExt cx="13017500" cy="817033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206500"/>
              <a:ext cx="13017500" cy="69638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Data availability and completeness may hinder accurate predictions.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Spatial aggregation across districts can obscure localized variations.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Confounding agricultural factors such as crop management practices influence outcomes.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Irrigation effects complicate the understanding of rainfall impacts.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Variability in fertilizer and input usage can skew results.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Extreme weather events may introduce unpredictability in yield responses.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Non-stationarity under climate change raises questions about model stability.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33333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Potential temporal leakage between training and test datasets must be mitigated.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0"/>
              <a:ext cx="130175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44">
                  <a:solidFill>
                    <a:srgbClr val="33333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Key Limitations and Threats to Validity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9118" y="3367087"/>
            <a:ext cx="5445932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 spc="-37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Phase 1: Data Acquisition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9118" y="5105400"/>
            <a:ext cx="5445932" cy="139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 spc="-30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 this phase, researchers will gather extensive historical data on rainfall, temperature, and crop yields across various districts in Kerala, ensuring comprehensive coverage for analysis.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419850" y="3367087"/>
            <a:ext cx="5446184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 spc="-37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Phase 2: Preprocessing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421966" y="5105400"/>
            <a:ext cx="5446184" cy="139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 spc="-30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collected data will undergo rigorous cleaning and preprocessing to address missing values, standardize formats, and ensure alignment with the temporal resolution of interest.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172950" y="2967037"/>
            <a:ext cx="5448300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 spc="-37">
                <a:solidFill>
                  <a:srgbClr val="33333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Phase 3: Temporal Feature Construction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72950" y="5105400"/>
            <a:ext cx="5448300" cy="139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 spc="-30" strike="noStrike" u="none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Researchers will construct lagged rainfall features utilizing historical data, creating a structured temporal feature space that captures delayed precipitation effects for improved yield modeling.</a:t>
            </a:r>
          </a:p>
        </p:txBody>
      </p:sp>
      <p:sp>
        <p:nvSpPr>
          <p:cNvPr name="AutoShape 8" id="8"/>
          <p:cNvSpPr/>
          <p:nvPr/>
        </p:nvSpPr>
        <p:spPr>
          <a:xfrm>
            <a:off x="992968" y="4410075"/>
            <a:ext cx="17607376" cy="0"/>
          </a:xfrm>
          <a:prstGeom prst="line">
            <a:avLst/>
          </a:prstGeom>
          <a:ln cap="flat" w="19050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669118" y="4248150"/>
            <a:ext cx="323850" cy="323850"/>
            <a:chOff x="0" y="0"/>
            <a:chExt cx="6350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421966" y="4248150"/>
            <a:ext cx="323850" cy="323850"/>
            <a:chOff x="0" y="0"/>
            <a:chExt cx="6350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172950" y="4248150"/>
            <a:ext cx="323850" cy="323850"/>
            <a:chOff x="0" y="0"/>
            <a:chExt cx="6350000" cy="635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66750" y="809625"/>
            <a:ext cx="16954500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lang="en-US" sz="8000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Research Timeline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1031988" cy="13509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1988" cy="1350966"/>
            </a:xfrm>
            <a:custGeom>
              <a:avLst/>
              <a:gdLst/>
              <a:ahLst/>
              <a:cxnLst/>
              <a:rect r="r" b="b" t="t" l="l"/>
              <a:pathLst>
                <a:path h="1350966" w="1031988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52512" y="666750"/>
            <a:ext cx="5753100" cy="8953500"/>
            <a:chOff x="0" y="0"/>
            <a:chExt cx="814724" cy="12679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4724" cy="1267949"/>
            </a:xfrm>
            <a:custGeom>
              <a:avLst/>
              <a:gdLst/>
              <a:ahLst/>
              <a:cxnLst/>
              <a:rect r="r" b="b" t="t" l="l"/>
              <a:pathLst>
                <a:path h="1267949" w="814724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296400" y="8392160"/>
            <a:ext cx="8324850" cy="1228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0"/>
              </a:lnSpc>
            </a:pPr>
            <a:r>
              <a:rPr lang="en-US" sz="3800" spc="-57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Integrating insights for sustainable agriculture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03759" y="942975"/>
            <a:ext cx="8317491" cy="3894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956"/>
              </a:lnSpc>
            </a:pPr>
            <a:r>
              <a:rPr lang="en-US" sz="14956" spc="-523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Research Framework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3117037">
            <a:off x="5418783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Rainfall-Lag-Aware Crop Yield Forecasting</dc:description>
  <dc:identifier>DAHVph9vZ1U</dc:identifier>
  <dcterms:modified xsi:type="dcterms:W3CDTF">2011-08-01T06:04:30Z</dcterms:modified>
  <cp:revision>1</cp:revision>
  <dc:title>Presentation - Rainfall-Lag-Aware Crop Yield Forecasting</dc:title>
</cp:coreProperties>
</file>