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3.svg" ContentType="image/svg+xml"/>
  <Override PartName="/ppt/media/image3.svg" ContentType="image/svg+xml"/>
  <Override PartName="/ppt/media/image5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x="18288000" cy="10287000"/>
  <p:notesSz cx="6858000" cy="9144000"/>
  <p:embeddedFontLst>
    <p:embeddedFont>
      <p:font typeface="Helvetica World" charset="1" panose="020B0500040000020004"/>
      <p:regular r:id="rId46"/>
    </p:embeddedFont>
    <p:embeddedFont>
      <p:font typeface="Georgia Pro Condensed" charset="1" panose="02040506050405020303"/>
      <p:regular r:id="rId47"/>
    </p:embeddedFont>
    <p:embeddedFont>
      <p:font typeface="Helvetica World Bold" charset="1" panose="020B0800040000020004"/>
      <p:regular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font" Target="fonts/font46.fntdata"/><Relationship Id="rId47" Type="http://schemas.openxmlformats.org/officeDocument/2006/relationships/font" Target="fonts/font47.fntdata"/><Relationship Id="rId48" Type="http://schemas.openxmlformats.org/officeDocument/2006/relationships/font" Target="fonts/font4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0"/>
            <a:ext cx="11201400" cy="10299700"/>
            <a:chOff x="0" y="0"/>
            <a:chExt cx="963348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3348" cy="885799"/>
            </a:xfrm>
            <a:custGeom>
              <a:avLst/>
              <a:gdLst/>
              <a:ahLst/>
              <a:cxnLst/>
              <a:rect r="r" b="b" t="t" l="l"/>
              <a:pathLst>
                <a:path h="885799" w="963348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F7F6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868150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6750" y="9011285"/>
            <a:ext cx="6886575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sz="1900">
                <a:solidFill>
                  <a:srgbClr val="333333"/>
                </a:solidFill>
                <a:latin typeface="Helvetica World"/>
              </a:rPr>
              <a:t>Sankar S Pillai, Martin Wills
An Explainable Temporal Machine Learning Scientific Proposal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5380" y="889343"/>
            <a:ext cx="9754495" cy="410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75"/>
              </a:lnSpc>
            </a:pPr>
            <a:r>
              <a:rPr sz="5800">
                <a:solidFill>
                  <a:srgbClr val="333333"/>
                </a:solidFill>
                <a:latin typeface="Georgia Pro Condensed"/>
              </a:rPr>
              <a:t>Rainfall-Lag-Aware Crop Yield Forecasting in India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8947742" y="765609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sz="1800">
                <a:solidFill>
                  <a:srgbClr val="333333"/>
                </a:solidFill>
                <a:latin typeface="Helvetica World"/>
              </a:rPr>
              <a:t>01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sz="5200">
                <a:solidFill>
                  <a:srgbClr val="333333"/>
                </a:solidFill>
                <a:latin typeface="Georgia Pro Condensed"/>
              </a:rPr>
              <a:t>Executive Abstract &amp; 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5025" y="1562100"/>
            <a:ext cx="9763125" cy="6718300"/>
            <a:chOff x="0" y="0"/>
            <a:chExt cx="13017500" cy="89577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06500"/>
              <a:ext cx="13017500" cy="77512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b="1" sz="1600">
                  <a:solidFill>
                    <a:srgbClr val="333333"/>
                  </a:solidFill>
                  <a:latin typeface="Helvetica World"/>
                </a:rPr>
                <a:t>Agro-Climatic Vulnerability: </a:t>
              </a:r>
              <a:r>
                <a:rPr b="0" sz="1600">
                  <a:solidFill>
                    <a:srgbClr val="333333"/>
                  </a:solidFill>
                  <a:latin typeface="Helvetica World"/>
                </a:rPr>
                <a:t>Accurate district-level crop yield forecasting across India is vital for national food security, grain buffer management, and rural risk mitigation under increasing monsoon volatility.</a:t>
              </a:r>
            </a:p>
            <a:p>
              <a:r>
                <a:rPr b="1" sz="1600">
                  <a:solidFill>
                    <a:srgbClr val="333333"/>
                  </a:solidFill>
                  <a:latin typeface="Helvetica World"/>
                </a:rPr>
                <a:t>Structural Limitation of Baselines: </a:t>
              </a:r>
              <a:r>
                <a:rPr b="0" sz="1600">
                  <a:solidFill>
                    <a:srgbClr val="333333"/>
                  </a:solidFill>
                  <a:latin typeface="Helvetica World"/>
                </a:rPr>
                <a:t>Contemporary national models rely on aggregate seasonal weather totals, masking intra-seasonal phenological rainfall sensitivity and suffering severe generalization collapse.</a:t>
              </a:r>
            </a:p>
            <a:p>
              <a:r>
                <a:rPr b="1" sz="1600">
                  <a:solidFill>
                    <a:srgbClr val="333333"/>
                  </a:solidFill>
                  <a:latin typeface="Helvetica World"/>
                </a:rPr>
                <a:t>Empirical Baseline Benchmark: </a:t>
              </a:r>
              <a:r>
                <a:rPr b="0" sz="1600">
                  <a:solidFill>
                    <a:srgbClr val="333333"/>
                  </a:solidFill>
                  <a:latin typeface="Helvetica World"/>
                </a:rPr>
                <a:t>A leak-free chronological evaluation across 10,279 district-year observations (1990-2017) over 20 states yields a Test MAE of 727.19 kg/ha (R² = 0.133) for Random Forest and 732.23 kg/ha (R² = 0.120) for XGBoost.</a:t>
              </a:r>
            </a:p>
            <a:p>
              <a:r>
                <a:rPr b="1" sz="1600">
                  <a:solidFill>
                    <a:srgbClr val="333333"/>
                  </a:solidFill>
                  <a:latin typeface="Helvetica World"/>
                </a:rPr>
                <a:t>Spatial Error Disparity: </a:t>
              </a:r>
              <a:r>
                <a:rPr b="0" sz="1600">
                  <a:solidFill>
                    <a:srgbClr val="333333"/>
                  </a:solidFill>
                  <a:latin typeface="Helvetica World"/>
                </a:rPr>
                <a:t>Observed district error shows massive geographical divergence (e.g. Himachal Pradesh MAE 389.5 kg/ha vs. Tamil Nadu MAE 1193.3 kg/ha), heavily confounded by regional irrigation infrastructure.</a:t>
              </a:r>
            </a:p>
            <a:p>
              <a:r>
                <a:rPr b="1" sz="1600">
                  <a:solidFill>
                    <a:srgbClr val="333333"/>
                  </a:solidFill>
                  <a:latin typeface="Helvetica World"/>
                </a:rPr>
                <a:t>Proposed Lag-Aware Innovation: </a:t>
              </a:r>
              <a:r>
                <a:rPr b="0" sz="1600">
                  <a:solidFill>
                    <a:srgbClr val="333333"/>
                  </a:solidFill>
                  <a:latin typeface="Helvetica World"/>
                </a:rPr>
                <a:t>We formulate a causal 16-week pre-harvest lag sequence anchored to ICAR/DES 15 Agro-Climatic Zones, integrated with multi-modal PyTorch RiceLSTM/RiceGRU deep networks and temporal SHAP explainability.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sz="3600" b="1">
                  <a:solidFill>
                    <a:srgbClr val="333333"/>
                  </a:solidFill>
                  <a:latin typeface="Georgia Pro Condensed"/>
                </a:rPr>
                <a:t>Scientific Proposal Abstract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5025" y="1562100"/>
            <a:ext cx="9763125" cy="5251450"/>
            <a:chOff x="0" y="0"/>
            <a:chExt cx="13017500" cy="70019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06500"/>
              <a:ext cx="13017500" cy="57954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b="1" sz="1600">
                  <a:solidFill>
                    <a:srgbClr val="333333"/>
                  </a:solidFill>
                  <a:latin typeface="Helvetica World"/>
                </a:rPr>
                <a:t>Rigorous Leakage-Free Protocol: </a:t>
              </a:r>
              <a:r>
                <a:rPr b="0" sz="1600">
                  <a:solidFill>
                    <a:srgbClr val="333333"/>
                  </a:solidFill>
                  <a:latin typeface="Helvetica World"/>
                </a:rPr>
                <a:t>Establish India-wide chronological evaluation baselines across 28 consecutive crop seasons without temporal lookahead bias.</a:t>
              </a:r>
            </a:p>
            <a:p>
              <a:r>
                <a:rPr b="1" sz="1600">
                  <a:solidFill>
                    <a:srgbClr val="333333"/>
                  </a:solidFill>
                  <a:latin typeface="Helvetica World"/>
                </a:rPr>
                <a:t>Spatial Disambiguation Engineering: </a:t>
              </a:r>
              <a:r>
                <a:rPr b="0" sz="1600">
                  <a:solidFill>
                    <a:srgbClr val="333333"/>
                  </a:solidFill>
                  <a:latin typeface="Helvetica World"/>
                </a:rPr>
                <a:t>Resolve historical administrative name collisions using composite geographic primary keys (State + Dist.Code).</a:t>
              </a:r>
            </a:p>
            <a:p>
              <a:r>
                <a:rPr b="1" sz="1600">
                  <a:solidFill>
                    <a:srgbClr val="333333"/>
                  </a:solidFill>
                  <a:latin typeface="Helvetica World"/>
                </a:rPr>
                <a:t>Empirical Performance Auditing: </a:t>
              </a:r>
              <a:r>
                <a:rPr b="0" sz="1600">
                  <a:solidFill>
                    <a:srgbClr val="333333"/>
                  </a:solidFill>
                  <a:latin typeface="Helvetica World"/>
                </a:rPr>
                <a:t>Quantify the fundamental performance ceiling of aggregate meteorological totals before sequence modeling.</a:t>
              </a:r>
            </a:p>
            <a:p>
              <a:r>
                <a:rPr b="1" sz="1600">
                  <a:solidFill>
                    <a:srgbClr val="333333"/>
                  </a:solidFill>
                  <a:latin typeface="Helvetica World"/>
                </a:rPr>
                <a:t>Agro-Climatic Calendar Anchoring: </a:t>
              </a:r>
              <a:r>
                <a:rPr b="0" sz="1600">
                  <a:solidFill>
                    <a:srgbClr val="333333"/>
                  </a:solidFill>
                  <a:latin typeface="Helvetica World"/>
                </a:rPr>
                <a:t>Ground temporal rainfall lags in official phenological windows across all 15 Agro-Climatic Planning Zones.</a:t>
              </a:r>
            </a:p>
            <a:p>
              <a:r>
                <a:rPr b="1" sz="1600">
                  <a:solidFill>
                    <a:srgbClr val="333333"/>
                  </a:solidFill>
                  <a:latin typeface="Helvetica World"/>
                </a:rPr>
                <a:t>Deep Multi-Modal Sequence Modeling: </a:t>
              </a:r>
              <a:r>
                <a:rPr b="0" sz="1600">
                  <a:solidFill>
                    <a:srgbClr val="333333"/>
                  </a:solidFill>
                  <a:latin typeface="Helvetica World"/>
                </a:rPr>
                <a:t>Design and train recurrent neural networks fusing weekly weather trajectories with district spatial embeddings.</a:t>
              </a:r>
            </a:p>
            <a:p>
              <a:r>
                <a:rPr b="1" sz="1600">
                  <a:solidFill>
                    <a:srgbClr val="333333"/>
                  </a:solidFill>
                  <a:latin typeface="Helvetica World"/>
                </a:rPr>
                <a:t>Transparent Feature Explainability: </a:t>
              </a:r>
              <a:r>
                <a:rPr b="0" sz="1600">
                  <a:solidFill>
                    <a:srgbClr val="333333"/>
                  </a:solidFill>
                  <a:latin typeface="Helvetica World"/>
                </a:rPr>
                <a:t>Deliver interpretable game-theoretic SHAP attributions identifying critical moisture exposure windows.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sz="3600" b="1">
                  <a:solidFill>
                    <a:srgbClr val="333333"/>
                  </a:solidFill>
                  <a:latin typeface="Georgia Pro Condensed"/>
                </a:rPr>
                <a:t>Core Objectives of the Research Proposal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sz="1800">
                <a:solidFill>
                  <a:srgbClr val="333333"/>
                </a:solidFill>
                <a:latin typeface="Helvetica World"/>
              </a:rPr>
              <a:t>02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sz="5200">
                <a:solidFill>
                  <a:srgbClr val="333333"/>
                </a:solidFill>
                <a:latin typeface="Georgia Pro Condensed"/>
              </a:rPr>
              <a:t>Introduction &amp; Scientific Motivation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6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sz="4000">
                  <a:solidFill>
                    <a:srgbClr val="333333"/>
                  </a:solidFill>
                  <a:latin typeface="Georgia Pro Condensed"/>
                </a:rPr>
                <a:t>Causal Agricultural Yield Mechanism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665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sz="1600" b="1">
                  <a:solidFill>
                    <a:srgbClr val="333333"/>
                  </a:solidFill>
                  <a:latin typeface="Helvetica World"/>
                </a:rPr>
                <a:t>Temporal Climate Exposure Dynamics in Indian Paddy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4308497" cy="2959100"/>
            <a:chOff x="0" y="0"/>
            <a:chExt cx="5744662" cy="39454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5744662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sz="1800" b="1">
                  <a:solidFill>
                    <a:srgbClr val="333333"/>
                  </a:solidFill>
                  <a:latin typeface="Helvetica World"/>
                </a:rPr>
                <a:t>01. Weather Input Trajectory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5744662" cy="2865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sz="1400">
                  <a:solidFill>
                    <a:srgbClr val="333333"/>
                  </a:solidFill>
                  <a:latin typeface="Helvetica World"/>
                </a:rPr>
                <a:t>Multi-source historical meteorological data: weekly precipitation, maximum temperature, and monsoon variability across 28 crop years (1990-2017) across 20 Indian states.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1388" y="5143500"/>
            <a:ext cx="4010025" cy="2959100"/>
            <a:chOff x="0" y="0"/>
            <a:chExt cx="5346700" cy="39454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sz="1800" b="1">
                  <a:solidFill>
                    <a:srgbClr val="333333"/>
                  </a:solidFill>
                  <a:latin typeface="Helvetica World"/>
                </a:rPr>
                <a:t>02. Phenological Exposure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5346700" cy="2865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sz="1400">
                  <a:solidFill>
                    <a:srgbClr val="333333"/>
                  </a:solidFill>
                  <a:latin typeface="Helvetica World"/>
                </a:rPr>
                <a:t>Crop water requirements vary sharply across vegetative tillering, panicle initiation, flowering, and grain filling. Moisture deficits or floods impact yield depending on timing.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5143500"/>
            <a:ext cx="4010025" cy="3254375"/>
            <a:chOff x="0" y="0"/>
            <a:chExt cx="5346700" cy="43391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sz="1800" b="1">
                  <a:solidFill>
                    <a:srgbClr val="333333"/>
                  </a:solidFill>
                  <a:latin typeface="Helvetica World"/>
                </a:rPr>
                <a:t>03. Realized Harvest Yield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79500"/>
              <a:ext cx="5346700" cy="32596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sz="1400">
                  <a:solidFill>
                    <a:srgbClr val="333333"/>
                  </a:solidFill>
                  <a:latin typeface="Helvetica World"/>
                </a:rPr>
                <a:t>Yield (kg/ha) integrates localized soil moisture stress, heat stress events, and agronomic management, manifesting substantial spatial and temporal heterogeneity across districts.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sz="1800">
                <a:solidFill>
                  <a:srgbClr val="333333"/>
                </a:solidFill>
                <a:latin typeface="Helvetica World"/>
              </a:rPr>
              <a:t>03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sz="5200">
                <a:solidFill>
                  <a:srgbClr val="333333"/>
                </a:solidFill>
                <a:latin typeface="Georgia Pro Condensed"/>
              </a:rPr>
              <a:t>Literature Review &amp; Existing Approaches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8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9763125" cy="4219575"/>
            <a:chOff x="0" y="0"/>
            <a:chExt cx="13017500" cy="56261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66675"/>
              <a:ext cx="13017500" cy="45264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sz="4000">
                  <a:solidFill>
                    <a:srgbClr val="333333"/>
                  </a:solidFill>
                  <a:latin typeface="Georgia Pro Condensed"/>
                </a:rPr>
                <a:t>Statistical Models vs. Machine Learning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5067300"/>
              <a:ext cx="130175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sz="1600" b="1">
                  <a:solidFill>
                    <a:srgbClr val="333333"/>
                  </a:solidFill>
                  <a:latin typeface="Helvetica World"/>
                </a:rPr>
                <a:t>Evaluating Agronomic Econometrics and Tabular Ensembles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66750" y="7816850"/>
            <a:ext cx="8324850" cy="180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sz="1600">
                <a:solidFill>
                  <a:srgbClr val="333333"/>
                </a:solidFill>
                <a:latin typeface="Helvetica World"/>
              </a:rPr>
              <a:t>Conventional statistical models (OLS, Panel Fixed Effects) enforce linear relationships and struggle with complex weather interactions.
Modern ensemble ML (Random Forest, XGBoost) captures non-linear thresholds but traditionally collapses entire seasons into aggregate totals, obscuring intra-seasonal phenological stress.</a:t>
            </a:r>
          </a:p>
        </p:txBody>
      </p:sp>
      <p:pic>
        <p:nvPicPr>
          <p:cNvPr id="7" name="Picture 6" descr="rainfall_vs_y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0000" y="1400000"/>
            <a:ext cx="7800000" cy="5850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0000" y="1400000"/>
            <a:ext cx="7800000" cy="585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9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9763125" cy="3105150"/>
            <a:chOff x="0" y="0"/>
            <a:chExt cx="13017500" cy="41402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66675"/>
              <a:ext cx="13017500" cy="3040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sz="4000">
                  <a:solidFill>
                    <a:srgbClr val="333333"/>
                  </a:solidFill>
                  <a:latin typeface="Georgia Pro Condensed"/>
                </a:rPr>
                <a:t>Time-Series vs. Climate-Informed Models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581400"/>
              <a:ext cx="130175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sz="1600" b="1">
                  <a:solidFill>
                    <a:srgbClr val="333333"/>
                  </a:solidFill>
                  <a:latin typeface="Helvetica World"/>
                </a:rPr>
                <a:t>Temporal Autoregressions and Long-Term Non-Stationarity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66750" y="7893050"/>
            <a:ext cx="8324850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sz="1600">
                <a:solidFill>
                  <a:srgbClr val="333333"/>
                </a:solidFill>
                <a:latin typeface="Helvetica World"/>
              </a:rPr>
              <a:t>Pure time-series models (ARIMA, Prophet) assume historical trend stationarity and fail during abrupt climate shocks.
As shown in the historical trajectory, rice yields across India exhibit strong technological upward trends (1990-2017) alongside significant interannual monsoon volatility, necessitating climate-informed temporal pipelines.</a:t>
            </a:r>
          </a:p>
        </p:txBody>
      </p:sp>
      <p:pic>
        <p:nvPicPr>
          <p:cNvPr id="7" name="Picture 6" descr="rice_yield_over_t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0000" y="1400000"/>
            <a:ext cx="7800000" cy="5850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0000" y="1400000"/>
            <a:ext cx="7800000" cy="585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sz="1800">
                <a:solidFill>
                  <a:srgbClr val="333333"/>
                </a:solidFill>
                <a:latin typeface="Helvetica World"/>
              </a:rPr>
              <a:t>04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sz="5200">
                <a:solidFill>
                  <a:srgbClr val="333333"/>
                </a:solidFill>
                <a:latin typeface="Georgia Pro Condensed"/>
              </a:rPr>
              <a:t>Research Gap &amp; Problem Formulation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5025" y="1562100"/>
            <a:ext cx="9763125" cy="5441950"/>
            <a:chOff x="0" y="0"/>
            <a:chExt cx="13017500" cy="72559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06500"/>
              <a:ext cx="13017500" cy="60494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b="1" sz="1700">
                  <a:solidFill>
                    <a:srgbClr val="333333"/>
                  </a:solidFill>
                  <a:latin typeface="Helvetica World"/>
                </a:rPr>
                <a:t>Aggregate Precipitation Fallacy: </a:t>
              </a:r>
              <a:r>
                <a:rPr b="0" sz="1700">
                  <a:solidFill>
                    <a:srgbClr val="333333"/>
                  </a:solidFill>
                  <a:latin typeface="Helvetica World"/>
                </a:rPr>
                <a:t>Contemporary national-scale models compress seasonal rainfall into single scalars, implicitly assuming uniform marginal productivity across growth stages.</a:t>
              </a:r>
            </a:p>
            <a:p>
              <a:r>
                <a:rPr b="1" sz="1700">
                  <a:solidFill>
                    <a:srgbClr val="333333"/>
                  </a:solidFill>
                  <a:latin typeface="Helvetica World"/>
                </a:rPr>
                <a:t>Insensitivity to Intra-Seasonal Timing: </a:t>
              </a:r>
              <a:r>
                <a:rPr b="0" sz="1700">
                  <a:solidFill>
                    <a:srgbClr val="333333"/>
                  </a:solidFill>
                  <a:latin typeface="Helvetica World"/>
                </a:rPr>
                <a:t>An identical 1,000 mm rainfall volume delivered during vegetative tillering versus terminal grain-filling produces radically different physiological outcomes.</a:t>
              </a:r>
            </a:p>
            <a:p>
              <a:r>
                <a:rPr b="1" sz="1700">
                  <a:solidFill>
                    <a:srgbClr val="333333"/>
                  </a:solidFill>
                  <a:latin typeface="Helvetica World"/>
                </a:rPr>
                <a:t>Prevalence of Data Leakage: </a:t>
              </a:r>
              <a:r>
                <a:rPr b="0" sz="1700">
                  <a:solidFill>
                    <a:srgbClr val="333333"/>
                  </a:solidFill>
                  <a:latin typeface="Helvetica World"/>
                </a:rPr>
                <a:t>Extensive agricultural ML literature relies on random K-Fold CV, leaking future macro trends into past predictions and producing artificially inflated R² benchmarks.</a:t>
              </a:r>
            </a:p>
            <a:p>
              <a:r>
                <a:rPr b="1" sz="1700">
                  <a:solidFill>
                    <a:srgbClr val="333333"/>
                  </a:solidFill>
                  <a:latin typeface="Helvetica World"/>
                </a:rPr>
                <a:t>Missing Pre-Harvest Sequencing: </a:t>
              </a:r>
              <a:r>
                <a:rPr b="0" sz="1700">
                  <a:solidFill>
                    <a:srgbClr val="333333"/>
                  </a:solidFill>
                  <a:latin typeface="Helvetica World"/>
                </a:rPr>
                <a:t>Systematic weekly pre-harvest lag sequences (w_-16 to w_-1) anchored to verified agro-climatic calendars have not been rigorously benchmarked across India.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sz="3600" b="1">
                  <a:solidFill>
                    <a:srgbClr val="333333"/>
                  </a:solidFill>
                  <a:latin typeface="Georgia Pro Condensed"/>
                </a:rPr>
                <a:t>The Structural Gap: Intra-Seasonal Temporal Obscurity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5025" y="1562100"/>
            <a:ext cx="9763125" cy="5689600"/>
            <a:chOff x="0" y="0"/>
            <a:chExt cx="13017500" cy="75861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06500"/>
              <a:ext cx="13017500" cy="63796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b="1" sz="1600">
                  <a:solidFill>
                    <a:srgbClr val="333333"/>
                  </a:solidFill>
                  <a:latin typeface="Helvetica World"/>
                </a:rPr>
                <a:t>District Indexing &amp; Outcome: </a:t>
              </a:r>
              <a:r>
                <a:rPr b="0" sz="1600">
                  <a:solidFill>
                    <a:srgbClr val="333333"/>
                  </a:solidFill>
                  <a:latin typeface="Helvetica World"/>
                </a:rPr>
                <a:t>Let i in {1, ..., N_D} index administrative districts, and t in {1, ..., T} index crop years. Target outcome is realized rice yield Y_{i,t} (kg/ha).</a:t>
              </a:r>
            </a:p>
            <a:p>
              <a:r>
                <a:rPr b="1" sz="1600">
                  <a:solidFill>
                    <a:srgbClr val="333333"/>
                  </a:solidFill>
                  <a:latin typeface="Helvetica World"/>
                </a:rPr>
                <a:t>Baseline Aggregate Formulation: </a:t>
              </a:r>
              <a:r>
                <a:rPr b="0" sz="1600">
                  <a:solidFill>
                    <a:srgbClr val="333333"/>
                  </a:solidFill>
                  <a:latin typeface="Helvetica World"/>
                </a:rPr>
                <a:t>Y_hat_{i,t} = f(s_i, R_{i,t}^{agg}, T_{i,t}^{agg}, SD_{i,t}^{monsoon}), where s_i represents spatial fixed effects and weather features are annual totals.</a:t>
              </a:r>
            </a:p>
            <a:p>
              <a:r>
                <a:rPr b="1" sz="1600">
                  <a:solidFill>
                    <a:srgbClr val="333333"/>
                  </a:solidFill>
                  <a:latin typeface="Helvetica World"/>
                </a:rPr>
                <a:t>Proposed Temporal Lag Formulation: </a:t>
              </a:r>
              <a:r>
                <a:rPr b="0" sz="1600">
                  <a:solidFill>
                    <a:srgbClr val="333333"/>
                  </a:solidFill>
                  <a:latin typeface="Helvetica World"/>
                </a:rPr>
                <a:t>Y_hat_{i,t} = F(s_i, {w_{i, t, tau}}_{tau = T_ref - 16}^{T_ref - 1}), where w_{i, t, tau} is the weekly weather vector (rainfall, Tmax) leading up to harvest.</a:t>
              </a:r>
            </a:p>
            <a:p>
              <a:r>
                <a:rPr b="1" sz="1600">
                  <a:solidFill>
                    <a:srgbClr val="333333"/>
                  </a:solidFill>
                  <a:latin typeface="Helvetica World"/>
                </a:rPr>
                <a:t>Strict Causality Guarantee: </a:t>
              </a:r>
              <a:r>
                <a:rPr b="0" sz="1600">
                  <a:solidFill>
                    <a:srgbClr val="333333"/>
                  </a:solidFill>
                  <a:latin typeface="Helvetica World"/>
                </a:rPr>
                <a:t>tau &lt;= T_ref - 1 &lt; T_ref, strictly prohibiting any post-harvest lookahead leakage and ensuring true operational forecasting capability.</a:t>
              </a:r>
            </a:p>
            <a:p>
              <a:r>
                <a:rPr b="1" sz="1600">
                  <a:solidFill>
                    <a:srgbClr val="333333"/>
                  </a:solidFill>
                  <a:latin typeface="Helvetica World"/>
                </a:rPr>
                <a:t>Empirical Optimization Objective: </a:t>
              </a:r>
              <a:r>
                <a:rPr b="0" sz="1600">
                  <a:solidFill>
                    <a:srgbClr val="333333"/>
                  </a:solidFill>
                  <a:latin typeface="Helvetica World"/>
                </a:rPr>
                <a:t>Minimize Mean Absolute Error (MAE) and Root Mean Squared Error (RMSE) on out-of-sample held-out chronological test partition.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sz="3600" b="1">
                  <a:solidFill>
                    <a:srgbClr val="333333"/>
                  </a:solidFill>
                  <a:latin typeface="Georgia Pro Condensed"/>
                </a:rPr>
                <a:t>Formal Mathematical Problem Formulation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sz="1800">
                <a:solidFill>
                  <a:srgbClr val="333333"/>
                </a:solidFill>
                <a:latin typeface="Helvetica World"/>
              </a:rPr>
              <a:t>05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sz="5200">
                <a:solidFill>
                  <a:srgbClr val="333333"/>
                </a:solidFill>
                <a:latin typeface="Georgia Pro Condensed"/>
              </a:rPr>
              <a:t>Research Questions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206963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963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9630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5A47C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963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809625"/>
            <a:ext cx="5448300" cy="3089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sz="4000">
                <a:solidFill>
                  <a:srgbClr val="333333"/>
                </a:solidFill>
                <a:latin typeface="Georgia Pro Condensed"/>
              </a:rPr>
              <a:t>Foundational Research Questions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08153" y="7606302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734675" y="6944836"/>
            <a:ext cx="6886575" cy="1780223"/>
            <a:chOff x="0" y="0"/>
            <a:chExt cx="9182100" cy="237363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sz="1800" b="1">
                  <a:solidFill>
                    <a:srgbClr val="333333"/>
                  </a:solidFill>
                  <a:latin typeface="Helvetica World"/>
                </a:rPr>
                <a:t>RQ3: Model Hierarchy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sz="1400">
                  <a:solidFill>
                    <a:srgbClr val="333333"/>
                  </a:solidFill>
                  <a:latin typeface="Helvetica World"/>
                </a:rPr>
                <a:t>Do deep recurrent neural networks (LSTM/GRU) capture multi-week lag interactions more effectively than tuned ensemble decision trees (RF, XGB)?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296400" y="425005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96400" y="1553369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96400" y="693610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734675" y="4248150"/>
            <a:ext cx="6886575" cy="1780223"/>
            <a:chOff x="0" y="0"/>
            <a:chExt cx="9182100" cy="237363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sz="1800" b="1">
                  <a:solidFill>
                    <a:srgbClr val="333333"/>
                  </a:solidFill>
                  <a:latin typeface="Helvetica World"/>
                </a:rPr>
                <a:t>RQ2: Pre-Harvest Lags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sz="1400">
                  <a:solidFill>
                    <a:srgbClr val="333333"/>
                  </a:solidFill>
                  <a:latin typeface="Helvetica World"/>
                </a:rPr>
                <a:t>Does decomposing seasonal rainfall into a causal 16-week pre-harvest lag sequence significantly improve district yield forecast accuracy?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34675" y="1562100"/>
            <a:ext cx="6886575" cy="1780223"/>
            <a:chOff x="0" y="0"/>
            <a:chExt cx="9182100" cy="237363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sz="1800" b="1">
                  <a:solidFill>
                    <a:srgbClr val="333333"/>
                  </a:solidFill>
                  <a:latin typeface="Helvetica World"/>
                </a:rPr>
                <a:t>RQ1: Baseline Ceiling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sz="1400">
                  <a:solidFill>
                    <a:srgbClr val="333333"/>
                  </a:solidFill>
                  <a:latin typeface="Helvetica World"/>
                </a:rPr>
                <a:t>What is the empirical limit of predictability achievable solely from seasonal aggregate weather under strict chronological zero-leakage evaluation?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206963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963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9630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5A47C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963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809625"/>
            <a:ext cx="5448300" cy="2079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sz="4000">
                <a:solidFill>
                  <a:srgbClr val="333333"/>
                </a:solidFill>
                <a:latin typeface="Georgia Pro Condensed"/>
              </a:rPr>
              <a:t>Spatial &amp; Explanatory Questions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08153" y="7606302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734675" y="6944836"/>
            <a:ext cx="6886575" cy="1780223"/>
            <a:chOff x="0" y="0"/>
            <a:chExt cx="9182100" cy="237363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sz="1800" b="1">
                  <a:solidFill>
                    <a:srgbClr val="333333"/>
                  </a:solidFill>
                  <a:latin typeface="Helvetica World"/>
                </a:rPr>
                <a:t>RQ6: Explainable Timing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sz="1400">
                  <a:solidFill>
                    <a:srgbClr val="333333"/>
                  </a:solidFill>
                  <a:latin typeface="Helvetica World"/>
                </a:rPr>
                <a:t>Which specific phenological weeks (e.g. flowering vs. grain filling) emerge as dominant drivers under game-theoretic SHAP feature attribution?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296400" y="425005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96400" y="1553369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96400" y="693610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734675" y="4248150"/>
            <a:ext cx="6886575" cy="1780223"/>
            <a:chOff x="0" y="0"/>
            <a:chExt cx="9182100" cy="237363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sz="1800" b="1">
                  <a:solidFill>
                    <a:srgbClr val="333333"/>
                  </a:solidFill>
                  <a:latin typeface="Helvetica World"/>
                </a:rPr>
                <a:t>RQ5: Irrigation Confounding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304714"/>
              <a:ext cx="9182100" cy="106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sz="1400">
                  <a:solidFill>
                    <a:srgbClr val="333333"/>
                  </a:solidFill>
                  <a:latin typeface="Helvetica World"/>
                </a:rPr>
                <a:t>To what degree does intensive groundwater and canal irrigation buffer yields against intra-seasonal rainfall deficits across states?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34675" y="1562100"/>
            <a:ext cx="6886575" cy="1370648"/>
            <a:chOff x="0" y="0"/>
            <a:chExt cx="9182100" cy="182753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sz="1800" b="1">
                  <a:solidFill>
                    <a:srgbClr val="333333"/>
                  </a:solidFill>
                  <a:latin typeface="Helvetica World"/>
                </a:rPr>
                <a:t>RQ4: Spatial Heterogeneity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sz="1400">
                  <a:solidFill>
                    <a:srgbClr val="333333"/>
                  </a:solidFill>
                  <a:latin typeface="Helvetica World"/>
                </a:rPr>
                <a:t>How does lag-response predictability vary across India's 15 distinct Agro-Climatic Planning Zones and irrigated vs. rainfed regimes?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sz="1800">
                <a:solidFill>
                  <a:srgbClr val="333333"/>
                </a:solidFill>
                <a:latin typeface="Helvetica World"/>
              </a:rPr>
              <a:t>06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sz="5200">
                <a:solidFill>
                  <a:srgbClr val="333333"/>
                </a:solidFill>
                <a:latin typeface="Georgia Pro Condensed"/>
              </a:rPr>
              <a:t>Research Hypotheses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17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3581400"/>
            <a:chOff x="0" y="0"/>
            <a:chExt cx="17259300" cy="47752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sz="4000">
                  <a:solidFill>
                    <a:srgbClr val="333333"/>
                  </a:solidFill>
                  <a:latin typeface="Georgia Pro Condensed"/>
                </a:rPr>
                <a:t>Hypothesis 1: Temporal Lag Advantage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sz="1600" b="1">
                  <a:solidFill>
                    <a:srgbClr val="333333"/>
                  </a:solidFill>
                  <a:latin typeface="Helvetica World"/>
                </a:rPr>
                <a:t>Granular Phenological Sequences Outperform Aggregate Indicators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069166"/>
              <a:ext cx="13512134" cy="17060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sz="1700">
                  <a:solidFill>
                    <a:srgbClr val="333333"/>
                  </a:solidFill>
                  <a:latin typeface="Helvetica World"/>
                </a:rPr>
                <a:t>Formulation (H1): Replacing aggregate seasonal rainfall with a 16-week pre-harvest lag sequence will yield a statistically significant reduction in held-out test error (MAE_lag &lt; MAE_agg), by resolving critical moisture stress during panicle initiation and flowering windows that aggregate metrics entirely overlook.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18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3581400"/>
            <a:chOff x="0" y="0"/>
            <a:chExt cx="17259300" cy="47752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sz="4000">
                  <a:solidFill>
                    <a:srgbClr val="333333"/>
                  </a:solidFill>
                  <a:latin typeface="Georgia Pro Condensed"/>
                </a:rPr>
                <a:t>Hypothesis 2: Deep Sequence Representation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sz="1600" b="1">
                  <a:solidFill>
                    <a:srgbClr val="333333"/>
                  </a:solidFill>
                  <a:latin typeface="Helvetica World"/>
                </a:rPr>
                <a:t>Multi-Modal Recurrent Networks Excel on Temporal Trajectories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3069166"/>
              <a:ext cx="13512134" cy="17060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sz="1700">
                  <a:solidFill>
                    <a:srgbClr val="333333"/>
                  </a:solidFill>
                  <a:latin typeface="Helvetica World"/>
                </a:rPr>
                <a:t>Formulation (H2): Multi-modal recurrent architectures (PyTorch RiceLSTM / RiceGRU) fusing sequential weather tensors with static district spatial embeddings will outperform tree ensembles in climatically vulnerable rainfed zones (R²_LSTM &gt; R²_RF), with SHAP attribution peaking during reproductive stages (w_-10 to w_-6).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sz="1800">
                <a:solidFill>
                  <a:srgbClr val="333333"/>
                </a:solidFill>
                <a:latin typeface="Helvetica World"/>
              </a:rPr>
              <a:t>07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sz="5200">
                <a:solidFill>
                  <a:srgbClr val="333333"/>
                </a:solidFill>
                <a:latin typeface="Georgia Pro Condensed"/>
              </a:rPr>
              <a:t>Datasets &amp; Research Pipeline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9118" y="3367087"/>
            <a:ext cx="4007657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sz="1700" b="1">
                <a:solidFill>
                  <a:srgbClr val="333333"/>
                </a:solidFill>
                <a:latin typeface="Helvetica World"/>
              </a:rPr>
              <a:t>01. Data Ingestion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9118" y="5105400"/>
            <a:ext cx="4007657" cy="210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sz="1300">
                <a:solidFill>
                  <a:srgbClr val="333333"/>
                </a:solidFill>
                <a:latin typeface="Helvetica World"/>
              </a:rPr>
              <a:t>Ingest 10,279 district-year agricultural records (1990-2017) across 20 Indian states, linking IMD gridded precipitation and temperature without raw file mutation.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81575" y="3367087"/>
            <a:ext cx="401002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sz="1700" b="1">
                <a:solidFill>
                  <a:srgbClr val="333333"/>
                </a:solidFill>
                <a:latin typeface="Helvetica World"/>
              </a:rPr>
              <a:t>02. Data Cleaning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16434" y="3323432"/>
            <a:ext cx="4003106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sz="1700" b="1">
                <a:solidFill>
                  <a:srgbClr val="333333"/>
                </a:solidFill>
                <a:latin typeface="Helvetica World"/>
              </a:rPr>
              <a:t>04. Lag &amp; Deep Models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981575" y="5105400"/>
            <a:ext cx="4010025" cy="210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sz="1300">
                <a:solidFill>
                  <a:srgbClr val="333333"/>
                </a:solidFill>
                <a:latin typeface="Helvetica World"/>
              </a:rPr>
              <a:t>Zero missing values verified. Strict geographic key disambiguation resolving 76 cross-state district name collisions via composite spatial primary keys.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611225" y="5105400"/>
            <a:ext cx="4003106" cy="210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sz="1300">
                <a:solidFill>
                  <a:srgbClr val="333333"/>
                </a:solidFill>
                <a:latin typeface="Helvetica World"/>
              </a:rPr>
              <a:t>Extract 16-week causal pre-harvest sequences anchored to 15 Agro-Climatic Zones, evaluating Lag-Aware RF/XGBoost and PyTorch RiceLSTM/RiceGRU.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96400" y="3367087"/>
            <a:ext cx="3807849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sz="1700" b="1">
                <a:solidFill>
                  <a:srgbClr val="333333"/>
                </a:solidFill>
                <a:latin typeface="Helvetica World"/>
              </a:rPr>
              <a:t>03. Causal Splitting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97189" y="5105400"/>
            <a:ext cx="4009236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sz="1300">
                <a:solidFill>
                  <a:srgbClr val="333333"/>
                </a:solidFill>
                <a:latin typeface="Helvetica World"/>
              </a:rPr>
              <a:t>Enforce strict chronological partitioning: Train (1990-2009), Val (2010-2013), and Test (2014-2017) eliminating all lookahead data leakage.</a:t>
            </a:r>
          </a:p>
        </p:txBody>
      </p:sp>
      <p:sp>
        <p:nvSpPr>
          <p:cNvPr name="AutoShape 10" id="10"/>
          <p:cNvSpPr/>
          <p:nvPr/>
        </p:nvSpPr>
        <p:spPr>
          <a:xfrm>
            <a:off x="992968" y="4410075"/>
            <a:ext cx="17607376" cy="0"/>
          </a:xfrm>
          <a:prstGeom prst="line">
            <a:avLst/>
          </a:prstGeom>
          <a:ln cap="flat" w="19050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669118" y="4248150"/>
            <a:ext cx="323850" cy="323850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983154" y="4248150"/>
            <a:ext cx="323850" cy="323850"/>
            <a:chOff x="0" y="0"/>
            <a:chExt cx="6350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297189" y="4248150"/>
            <a:ext cx="323850" cy="323850"/>
            <a:chOff x="0" y="0"/>
            <a:chExt cx="6350000" cy="63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611225" y="4248150"/>
            <a:ext cx="323850" cy="323850"/>
            <a:chOff x="0" y="0"/>
            <a:chExt cx="6350000" cy="635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sz="4000">
                <a:solidFill>
                  <a:srgbClr val="333333"/>
                </a:solidFill>
                <a:latin typeface="Georgia Pro Condensed"/>
              </a:rPr>
              <a:t>End-to-End Scientific Research Pipeline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sz="1800">
                <a:solidFill>
                  <a:srgbClr val="333333"/>
                </a:solidFill>
                <a:latin typeface="Helvetica World"/>
              </a:rPr>
              <a:t>08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sz="5200">
                <a:solidFill>
                  <a:srgbClr val="333333"/>
                </a:solidFill>
                <a:latin typeface="Georgia Pro Condensed"/>
              </a:rPr>
              <a:t>Dataset Architecture &amp; Geographic Scope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sz="4000">
                  <a:solidFill>
                    <a:srgbClr val="333333"/>
                  </a:solidFill>
                  <a:latin typeface="Georgia Pro Condensed"/>
                </a:rPr>
                <a:t>Empirical Dataset Schema &amp; Scope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665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sz="1600" b="1">
                  <a:solidFill>
                    <a:srgbClr val="333333"/>
                  </a:solidFill>
                  <a:latin typeface="Helvetica World"/>
                </a:rPr>
                <a:t>28-Year Multi-State Agricultural Panel (1990-2017)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4308497" cy="2606675"/>
            <a:chOff x="0" y="0"/>
            <a:chExt cx="5744662" cy="34755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5744662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sz="1800" b="1">
                  <a:solidFill>
                    <a:srgbClr val="333333"/>
                  </a:solidFill>
                  <a:latin typeface="Helvetica World"/>
                </a:rPr>
                <a:t>Target: Rice Yield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5744662" cy="2396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sz="1400">
                  <a:solidFill>
                    <a:srgbClr val="333333"/>
                  </a:solidFill>
                  <a:latin typeface="Helvetica World"/>
                </a:rPr>
                <a:t>Target variable: RICE.YIELD..Kg.per.ha. (continuous float64, kg/ha). Mean: 1,939.1 kg/ha, Min: 44.0 kg/ha, Max: 7,497.0 kg/ha across 10,279 district-year observations.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1388" y="5143500"/>
            <a:ext cx="4010025" cy="2578100"/>
            <a:chOff x="0" y="0"/>
            <a:chExt cx="5346700" cy="34374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sz="1800" b="1">
                  <a:solidFill>
                    <a:srgbClr val="333333"/>
                  </a:solidFill>
                  <a:latin typeface="Helvetica World"/>
                </a:rPr>
                <a:t>Meteorological Features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5346700" cy="2357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sz="1400">
                  <a:solidFill>
                    <a:srgbClr val="333333"/>
                  </a:solidFill>
                  <a:latin typeface="Helvetica World"/>
                </a:rPr>
                <a:t>IMD_RF (annual/seasonal rainfall in mm, mean 1,170.8 mm), IMD_Tmax (mean max temp in °C, mean 31.8°C), and SD_RF_jun_nov (monsoon std dev, mean 11.2 mm).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5143500"/>
            <a:ext cx="4010025" cy="2930525"/>
            <a:chOff x="0" y="0"/>
            <a:chExt cx="5346700" cy="39073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sz="1800" b="1">
                  <a:solidFill>
                    <a:srgbClr val="333333"/>
                  </a:solidFill>
                  <a:latin typeface="Helvetica World"/>
                </a:rPr>
                <a:t>Spatial Identifiers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79500"/>
              <a:ext cx="5346700" cy="28278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sz="1400">
                  <a:solidFill>
                    <a:srgbClr val="333333"/>
                  </a:solidFill>
                  <a:latin typeface="Helvetica World"/>
                </a:rPr>
                <a:t>20 Indian States (State_Clean one-hot spatial fixed effects) and 384 distinct district codes, mapped to ICAR/DES 15 Agro-Climatic Planning Zones.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sz="1800">
                <a:solidFill>
                  <a:srgbClr val="333333"/>
                </a:solidFill>
                <a:latin typeface="Helvetica World"/>
              </a:rPr>
              <a:t>09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sz="5200">
                <a:solidFill>
                  <a:srgbClr val="333333"/>
                </a:solidFill>
                <a:latin typeface="Georgia Pro Condensed"/>
              </a:rPr>
              <a:t>Preprocessing &amp; Spatial Disambiguation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24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2067009"/>
            <a:chOff x="0" y="0"/>
            <a:chExt cx="172593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sz="4000">
                  <a:solidFill>
                    <a:srgbClr val="333333"/>
                  </a:solidFill>
                  <a:latin typeface="Georgia Pro Condensed"/>
                </a:rPr>
                <a:t>Resolving Geographic Ambiguities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sz="1600" b="1">
                  <a:solidFill>
                    <a:srgbClr val="333333"/>
                  </a:solidFill>
                  <a:latin typeface="Helvetica World"/>
                </a:rPr>
                <a:t>Deterministic Composite Spatial Primary Key Formulation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5753100" cy="2197100"/>
            <a:chOff x="0" y="0"/>
            <a:chExt cx="7670800" cy="29294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76708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sz="1800" b="1">
                  <a:solidFill>
                    <a:srgbClr val="333333"/>
                  </a:solidFill>
                  <a:latin typeface="Helvetica World"/>
                </a:rPr>
                <a:t>The 76-Collision Problem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7670800" cy="1849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sz="1500">
                  <a:solidFill>
                    <a:srgbClr val="333333"/>
                  </a:solidFill>
                  <a:latin typeface="Helvetica World"/>
                </a:rPr>
                <a:t>In India, identical district names exist across state boundaries (e.g. Aurangabad in Bihar vs Maharashtra; Bilaspur in Chhattisgarh vs Himachal; Hamirpur in UP vs Himachal). Naive (District, Year) indexing causes 76 key collisions.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5143500"/>
            <a:ext cx="5448300" cy="2197100"/>
            <a:chOff x="0" y="0"/>
            <a:chExt cx="7264400" cy="29294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72644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sz="1800" b="1">
                  <a:solidFill>
                    <a:srgbClr val="333333"/>
                  </a:solidFill>
                  <a:latin typeface="Helvetica World"/>
                </a:rPr>
                <a:t>Composite Key Solution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7264400" cy="1849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sz="1500">
                  <a:solidFill>
                    <a:srgbClr val="333333"/>
                  </a:solidFill>
                  <a:latin typeface="Helvetica World"/>
                </a:rPr>
                <a:t>We construct stable_geographic_id = State_Clean || '_' || Dist.Code (e.g., 'BIHAR_920' vs 'MAHARASHTRA_108'). Verifying on (stable_geographic_id, Year) yields exactly 0 collisions across all 10,279 rows.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sz="1800">
                <a:solidFill>
                  <a:srgbClr val="333333"/>
                </a:solidFill>
                <a:latin typeface="Helvetica World"/>
              </a:rPr>
              <a:t>10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sz="5200">
                <a:solidFill>
                  <a:srgbClr val="333333"/>
                </a:solidFill>
                <a:latin typeface="Georgia Pro Condensed"/>
              </a:rPr>
              <a:t>Experimental Design &amp; Benchmarking Protocol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26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2067009"/>
            <a:chOff x="0" y="0"/>
            <a:chExt cx="172593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sz="4000">
                  <a:solidFill>
                    <a:srgbClr val="333333"/>
                  </a:solidFill>
                  <a:latin typeface="Georgia Pro Condensed"/>
                </a:rPr>
                <a:t>Leakage-Safe Chronological Splitting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sz="1600" b="1">
                  <a:solidFill>
                    <a:srgbClr val="333333"/>
                  </a:solidFill>
                  <a:latin typeface="Helvetica World"/>
                </a:rPr>
                <a:t>Causal Temporal Partitioning Over 28 Crop Seasons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5753100" cy="2254250"/>
            <a:chOff x="0" y="0"/>
            <a:chExt cx="7670800" cy="30056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76708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sz="1800" b="1">
                  <a:solidFill>
                    <a:srgbClr val="333333"/>
                  </a:solidFill>
                  <a:latin typeface="Helvetica World"/>
                </a:rPr>
                <a:t>Chronological Splits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7670800" cy="1926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sz="1500">
                  <a:solidFill>
                    <a:srgbClr val="333333"/>
                  </a:solidFill>
                  <a:latin typeface="Helvetica World"/>
                </a:rPr>
                <a:t>• Train (1990-2009): N = 7,361 (71.6%)
• Validation (2010-2013): N = 1,448 (14.1%)
• Held-Out Test (2014-2017): N = 1,470 (14.3%)
Strictly sequential: no future records in training.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5143500"/>
            <a:ext cx="5448300" cy="2225675"/>
            <a:chOff x="0" y="0"/>
            <a:chExt cx="7264400" cy="29675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72644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sz="1800" b="1">
                  <a:solidFill>
                    <a:srgbClr val="333333"/>
                  </a:solidFill>
                  <a:latin typeface="Helvetica World"/>
                </a:rPr>
                <a:t>Strict Anti-Leakage Rules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7264400" cy="1888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sz="1500">
                  <a:solidFill>
                    <a:srgbClr val="333333"/>
                  </a:solidFill>
                  <a:latin typeface="Helvetica World"/>
                </a:rPr>
                <a:t>• Tautological target leaks (RICE.PRODUCTION, RICE.AREA) strictly excluded.
• State one-hot encoders fitted strictly on Train split.
• Year excluded as a direct numerical feature.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sz="1800">
                <a:solidFill>
                  <a:srgbClr val="333333"/>
                </a:solidFill>
                <a:latin typeface="Helvetica World"/>
              </a:rPr>
              <a:t>11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sz="5200">
                <a:solidFill>
                  <a:srgbClr val="333333"/>
                </a:solidFill>
                <a:latin typeface="Georgia Pro Condensed"/>
              </a:rPr>
              <a:t>Phase 1 Executed Baseline Benchmark Results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28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3249275" cy="2067009"/>
            <a:chOff x="0" y="0"/>
            <a:chExt cx="176657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6657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sz="4000">
                  <a:solidFill>
                    <a:srgbClr val="333333"/>
                  </a:solidFill>
                  <a:latin typeface="Georgia Pro Condensed"/>
                </a:rPr>
                <a:t>Phase 1 India-Wide Benchmark Metrics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665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sz="1600" b="1">
                  <a:solidFill>
                    <a:srgbClr val="333333"/>
                  </a:solidFill>
                  <a:latin typeface="Helvetica World"/>
                </a:rPr>
                <a:t>Evaluated on Held-Out Chronological Test Partition (2014-2017, N = 1,470)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4308497" cy="2901950"/>
            <a:chOff x="0" y="0"/>
            <a:chExt cx="5744662" cy="38692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5744662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sz="1800" b="1">
                  <a:solidFill>
                    <a:srgbClr val="333333"/>
                  </a:solidFill>
                  <a:latin typeface="Helvetica World"/>
                </a:rPr>
                <a:t>Random Forest Benchmark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5744662" cy="2789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sz="1300">
                  <a:solidFill>
                    <a:srgbClr val="333333"/>
                  </a:solidFill>
                  <a:latin typeface="Helvetica World"/>
                </a:rPr>
                <a:t>• Train (1990-2009): MAE 276.57 kg/ha | RMSE 370.37 | R² 0.8351
• Val (2010-2013): MAE 606.30 kg/ha | RMSE 774.58 | R² 0.3386
• Test (2014-2017): MAE 727.19 kg/ha | RMSE 914.20 | R² 0.1333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91388" y="5143500"/>
            <a:ext cx="4010025" cy="2901950"/>
            <a:chOff x="0" y="0"/>
            <a:chExt cx="5346700" cy="38692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sz="1800" b="1">
                  <a:solidFill>
                    <a:srgbClr val="333333"/>
                  </a:solidFill>
                  <a:latin typeface="Helvetica World"/>
                </a:rPr>
                <a:t>XGBoost Benchmark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5346700" cy="2789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sz="1300">
                  <a:solidFill>
                    <a:srgbClr val="333333"/>
                  </a:solidFill>
                  <a:latin typeface="Helvetica World"/>
                </a:rPr>
                <a:t>• Train (1990-2009): MAE 311.08 kg/ha | RMSE 415.27 | R² 0.7926
• Val (2010-2013): MAE 601.74 kg/ha | RMSE 772.98 | R² 0.3414
• Test (2014-2017): MAE 732.23 kg/ha | RMSE 921.29 | R² 0.1198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172950" y="5143500"/>
            <a:ext cx="4010025" cy="2901950"/>
            <a:chOff x="0" y="0"/>
            <a:chExt cx="5346700" cy="3869267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9525"/>
              <a:ext cx="53467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sz="1800" b="1">
                  <a:solidFill>
                    <a:srgbClr val="333333"/>
                  </a:solidFill>
                  <a:latin typeface="Helvetica World"/>
                </a:rPr>
                <a:t>Scientific Takeaways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1079500"/>
              <a:ext cx="5346700" cy="27897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sz="1300">
                  <a:solidFill>
                    <a:srgbClr val="333333"/>
                  </a:solidFill>
                  <a:latin typeface="Helvetica World"/>
                </a:rPr>
                <a:t>• Both models exhibit high train fit but severe test degradation (R² ~ 0.12-0.13).
• Confirms aggregate seasonal weather totals lack the intra-seasonal signal needed for accurate yield prediction.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sz="1800">
                <a:solidFill>
                  <a:srgbClr val="333333"/>
                </a:solidFill>
                <a:latin typeface="Helvetica World"/>
              </a:rPr>
              <a:t>12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sz="5200">
                <a:solidFill>
                  <a:srgbClr val="333333"/>
                </a:solidFill>
                <a:latin typeface="Georgia Pro Condensed"/>
              </a:rPr>
              <a:t>Baseline Comparative Analysis &amp; Diagnostics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3333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30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00225" y="1562100"/>
            <a:ext cx="12944475" cy="2067009"/>
            <a:chOff x="0" y="0"/>
            <a:chExt cx="17259300" cy="275601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85725"/>
              <a:ext cx="17259300" cy="1702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00"/>
                </a:lnSpc>
              </a:pPr>
              <a:r>
                <a:rPr sz="4000">
                  <a:solidFill>
                    <a:srgbClr val="333333"/>
                  </a:solidFill>
                  <a:latin typeface="Georgia Pro Condensed"/>
                </a:rPr>
                <a:t>Baseline Model Behavior &amp; Temporal Drift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197212"/>
              <a:ext cx="172593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00"/>
                </a:lnSpc>
                <a:spcBef>
                  <a:spcPct val="0"/>
                </a:spcBef>
              </a:pPr>
              <a:r>
                <a:rPr sz="1600" b="1">
                  <a:solidFill>
                    <a:srgbClr val="333333"/>
                  </a:solidFill>
                  <a:latin typeface="Helvetica World"/>
                </a:rPr>
                <a:t>Analyzing Bagging vs. Gradient Boosting Under Chronological Evaluation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800225" y="5143500"/>
            <a:ext cx="5753100" cy="2197100"/>
            <a:chOff x="0" y="0"/>
            <a:chExt cx="7670800" cy="29294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"/>
              <a:ext cx="76708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sz="1800" b="1">
                  <a:solidFill>
                    <a:srgbClr val="333333"/>
                  </a:solidFill>
                  <a:latin typeface="Helvetica World"/>
                </a:rPr>
                <a:t>Parity of Tabular Bagging &amp; Boosting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079500"/>
              <a:ext cx="7670800" cy="1849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sz="1500">
                  <a:solidFill>
                    <a:srgbClr val="333333"/>
                  </a:solidFill>
                  <a:latin typeface="Helvetica World"/>
                </a:rPr>
                <a:t>Random Forest (727.19 kg/ha MAE) and XGBoost (732.23 kg/ha MAE) differ by only 5.03 kg/ha (0.69%) on Test. Both tree-based families extract identical limited predictive signal from seasonal totals.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296400" y="5143500"/>
            <a:ext cx="5448300" cy="2197100"/>
            <a:chOff x="0" y="0"/>
            <a:chExt cx="7264400" cy="292946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9525"/>
              <a:ext cx="7264400" cy="523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sz="1800" b="1">
                  <a:solidFill>
                    <a:srgbClr val="333333"/>
                  </a:solidFill>
                  <a:latin typeface="Helvetica World"/>
                </a:rPr>
                <a:t>Non-Stationarity &amp; Technological Drift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079500"/>
              <a:ext cx="7264400" cy="1849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sz="1500">
                  <a:solidFill>
                    <a:srgbClr val="333333"/>
                  </a:solidFill>
                  <a:latin typeface="Helvetica World"/>
                </a:rPr>
                <a:t>Performance degrades from Train (MAE ~ 276-311) to Val (MAE ~ 601-606) and Test (MAE ~ 727-732), proving that agricultural trends and irrigation growth alter the climate-to-yield mapping over time.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sz="1800">
                <a:solidFill>
                  <a:srgbClr val="333333"/>
                </a:solidFill>
                <a:latin typeface="Helvetica World"/>
              </a:rPr>
              <a:t>13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sz="4000">
                <a:solidFill>
                  <a:srgbClr val="333333"/>
                </a:solidFill>
                <a:latin typeface="Georgia Pro Condensed"/>
              </a:rPr>
              <a:t>Empirical Visualizations: Prediction Error &amp; Spatial Disparity</a:t>
            </a:r>
          </a:p>
        </p:txBody>
      </p:sp>
      <p:pic>
        <p:nvPicPr>
          <p:cNvPr id="8" name="Picture 7" descr="actual_vs_predic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0225" y="2700000"/>
            <a:ext cx="7200000" cy="5400000"/>
          </a:xfrm>
          <a:prstGeom prst="rect">
            <a:avLst/>
          </a:prstGeom>
        </p:spPr>
      </p:pic>
      <p:pic>
        <p:nvPicPr>
          <p:cNvPr id="9" name="Picture 8" descr="state_mae_comparis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0000" y="2700000"/>
            <a:ext cx="7200000" cy="5400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0225" y="2700000"/>
            <a:ext cx="7200000" cy="5400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0000" y="2700000"/>
            <a:ext cx="7200000" cy="5400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206963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6963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069630">
                  <a:moveTo>
                    <a:pt x="0" y="0"/>
                  </a:moveTo>
                  <a:lnTo>
                    <a:pt x="2069630" y="0"/>
                  </a:lnTo>
                  <a:lnTo>
                    <a:pt x="206963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5A47C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6963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809625"/>
            <a:ext cx="5448300" cy="5108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sz="4000">
                <a:solidFill>
                  <a:srgbClr val="333333"/>
                </a:solidFill>
                <a:latin typeface="Georgia Pro Condensed"/>
              </a:rPr>
              <a:t>Yield Distribution &amp; Spatial Diagnostics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08153" y="7606302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734675" y="6944836"/>
            <a:ext cx="6886575" cy="1370648"/>
            <a:chOff x="0" y="0"/>
            <a:chExt cx="9182100" cy="182753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sz="1800" b="1">
                  <a:solidFill>
                    <a:srgbClr val="333333"/>
                  </a:solidFill>
                  <a:latin typeface="Helvetica World"/>
                </a:rPr>
                <a:t>03. Residual Normality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sz="1400">
                  <a:solidFill>
                    <a:srgbClr val="333333"/>
                  </a:solidFill>
                  <a:latin typeface="Helvetica World"/>
                </a:rPr>
                <a:t>Test residuals are symmetric and centered at zero, validating fixed-effect unbiasedness but highlighting under-prediction of extreme drought/flood events.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296400" y="425005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96400" y="1553369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96400" y="6936105"/>
            <a:ext cx="86498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799" u="none">
                <a:solidFill>
                  <a:srgbClr val="333333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03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734675" y="4248150"/>
            <a:ext cx="6886575" cy="1370648"/>
            <a:chOff x="0" y="0"/>
            <a:chExt cx="9182100" cy="182753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sz="1800" b="1">
                  <a:solidFill>
                    <a:srgbClr val="333333"/>
                  </a:solidFill>
                  <a:latin typeface="Helvetica World"/>
                </a:rPr>
                <a:t>02. District Error Heterogeneity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sz="1400">
                  <a:solidFill>
                    <a:srgbClr val="333333"/>
                  </a:solidFill>
                  <a:latin typeface="Helvetica World"/>
                </a:rPr>
                <a:t>Median district test MAE is 628.7 kg/ha across 378 evaluated districts, but climate-vulnerable rainfed zones exhibit heavy right tails exceeding 1,200 kg/ha.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34675" y="1562100"/>
            <a:ext cx="6886575" cy="1370648"/>
            <a:chOff x="0" y="0"/>
            <a:chExt cx="9182100" cy="182753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0"/>
              <a:ext cx="91821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sz="1800" b="1">
                  <a:solidFill>
                    <a:srgbClr val="333333"/>
                  </a:solidFill>
                  <a:latin typeface="Helvetica World"/>
                </a:rPr>
                <a:t>01. Bimodal Yield Profile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304714"/>
              <a:ext cx="9182100" cy="522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49"/>
                </a:lnSpc>
                <a:spcBef>
                  <a:spcPct val="0"/>
                </a:spcBef>
              </a:pPr>
              <a:r>
                <a:rPr sz="1400">
                  <a:solidFill>
                    <a:srgbClr val="333333"/>
                  </a:solidFill>
                  <a:latin typeface="Helvetica World"/>
                </a:rPr>
                <a:t>National distribution displays twin modes: traditional rainfed districts peak at ~2,000 kg/ha, while green-revolution intensive zones peak at ~4,000 kg/ha.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sz="1800">
                <a:solidFill>
                  <a:srgbClr val="333333"/>
                </a:solidFill>
                <a:latin typeface="Helvetica World"/>
              </a:rPr>
              <a:t>14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sz="5200">
                <a:solidFill>
                  <a:srgbClr val="333333"/>
                </a:solidFill>
                <a:latin typeface="Georgia Pro Condensed"/>
              </a:rPr>
              <a:t>Proposed Phase 2: Phenological Lag Methodology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6545058" cy="8953500"/>
            <a:chOff x="0" y="0"/>
            <a:chExt cx="768828" cy="10517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828" cy="1051741"/>
            </a:xfrm>
            <a:custGeom>
              <a:avLst/>
              <a:gdLst/>
              <a:ahLst/>
              <a:cxnLst/>
              <a:rect r="r" b="b" t="t" l="l"/>
              <a:pathLst>
                <a:path h="1051741" w="768828">
                  <a:moveTo>
                    <a:pt x="53229" y="0"/>
                  </a:moveTo>
                  <a:lnTo>
                    <a:pt x="715599" y="0"/>
                  </a:lnTo>
                  <a:cubicBezTo>
                    <a:pt x="729717" y="0"/>
                    <a:pt x="743256" y="5608"/>
                    <a:pt x="753238" y="15590"/>
                  </a:cubicBezTo>
                  <a:cubicBezTo>
                    <a:pt x="763220" y="25573"/>
                    <a:pt x="768828" y="39112"/>
                    <a:pt x="768828" y="53229"/>
                  </a:cubicBezTo>
                  <a:lnTo>
                    <a:pt x="768828" y="998512"/>
                  </a:lnTo>
                  <a:cubicBezTo>
                    <a:pt x="768828" y="1027909"/>
                    <a:pt x="744997" y="1051741"/>
                    <a:pt x="715599" y="1051741"/>
                  </a:cubicBezTo>
                  <a:lnTo>
                    <a:pt x="53229" y="1051741"/>
                  </a:lnTo>
                  <a:cubicBezTo>
                    <a:pt x="39112" y="1051741"/>
                    <a:pt x="25573" y="1046133"/>
                    <a:pt x="15590" y="1036150"/>
                  </a:cubicBezTo>
                  <a:cubicBezTo>
                    <a:pt x="5608" y="1026168"/>
                    <a:pt x="0" y="1012629"/>
                    <a:pt x="0" y="998512"/>
                  </a:cubicBezTo>
                  <a:lnTo>
                    <a:pt x="0" y="53229"/>
                  </a:lnTo>
                  <a:cubicBezTo>
                    <a:pt x="0" y="23831"/>
                    <a:pt x="23831" y="0"/>
                    <a:pt x="5322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14" r="0" b="-414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96400" y="733425"/>
            <a:ext cx="8324850" cy="226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</a:pPr>
            <a:r>
              <a:rPr sz="4000">
                <a:solidFill>
                  <a:srgbClr val="333333"/>
                </a:solidFill>
                <a:latin typeface="Georgia Pro Condensed"/>
              </a:rPr>
              <a:t>Phenological 16-Week Pre-Harvest Lag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96400" y="7854950"/>
            <a:ext cx="8324850" cy="176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sz="1500">
                <a:solidFill>
                  <a:srgbClr val="333333"/>
                </a:solidFill>
                <a:latin typeface="Helvetica World"/>
              </a:rPr>
              <a:t>1. Agro-Climatic Anchoring: Official sowing/harvest calendars across all 15 Agro-Climatic Planning Zones establish deterministic harvest reference weeks T_ref (e.g. Week 41 for Kerala, Week 42 for Punjab, Week 46 for West Bengal).
2. Causal 16-Week Lag Extraction: Extracts weekly weather sequence for (T_ref - 16) through (T_ref - 1), guaranteeing zero lookahead leakage (w_-1 &lt; T_ref).
3. Feature Correlation: Correlation analysis proves intra-seasonal weekly dynamics reveal moisture sensitivities completely concealed by aggregate totals.</a:t>
            </a:r>
          </a:p>
        </p:txBody>
      </p:sp>
      <p:pic>
        <p:nvPicPr>
          <p:cNvPr id="8" name="Picture 7" descr="correlat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00" y="1800000"/>
            <a:ext cx="7800000" cy="6240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00" y="1800000"/>
            <a:ext cx="7800000" cy="6240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sz="1800">
                <a:solidFill>
                  <a:srgbClr val="333333"/>
                </a:solidFill>
                <a:latin typeface="Helvetica World"/>
              </a:rPr>
              <a:t>15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sz="5200">
                <a:solidFill>
                  <a:srgbClr val="333333"/>
                </a:solidFill>
                <a:latin typeface="Georgia Pro Condensed"/>
              </a:rPr>
              <a:t>Proposed Phase 3: Deep Sequence Learning &amp; Explainability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5025" y="1562100"/>
            <a:ext cx="9763125" cy="6318250"/>
            <a:chOff x="0" y="0"/>
            <a:chExt cx="13017500" cy="84243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06500"/>
              <a:ext cx="13017500" cy="7217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b="1" sz="1600">
                  <a:solidFill>
                    <a:srgbClr val="333333"/>
                  </a:solidFill>
                  <a:latin typeface="Helvetica World"/>
                </a:rPr>
                <a:t>Multi-Modal Tensor Fusion: </a:t>
              </a:r>
              <a:r>
                <a:rPr b="0" sz="1600">
                  <a:solidFill>
                    <a:srgbClr val="333333"/>
                  </a:solidFill>
                  <a:latin typeface="Helvetica World"/>
                </a:rPr>
                <a:t>Integrates 16-step weekly weather tensors X_seq in R^{B x 16 x D_feat} with static spatial district embeddings x_static in R^{B x D_static}.</a:t>
              </a:r>
            </a:p>
            <a:p>
              <a:r>
                <a:rPr b="1" sz="1600">
                  <a:solidFill>
                    <a:srgbClr val="333333"/>
                  </a:solidFill>
                  <a:latin typeface="Helvetica World"/>
                </a:rPr>
                <a:t>Recurrent Temporal Backbones: </a:t>
              </a:r>
              <a:r>
                <a:rPr b="0" sz="1600">
                  <a:solidFill>
                    <a:srgbClr val="333333"/>
                  </a:solidFill>
                  <a:latin typeface="Helvetica World"/>
                </a:rPr>
                <a:t>Stacked 2-layer LSTM and GRU architectures (hidden dim 64/128, dropout 0.2) capturing non-linear cumulative moisture and thermal stresses.</a:t>
              </a:r>
            </a:p>
            <a:p>
              <a:r>
                <a:rPr b="1" sz="1600">
                  <a:solidFill>
                    <a:srgbClr val="333333"/>
                  </a:solidFill>
                  <a:latin typeface="Helvetica World"/>
                </a:rPr>
                <a:t>Projection Fusion Head: </a:t>
              </a:r>
              <a:r>
                <a:rPr b="0" sz="1600">
                  <a:solidFill>
                    <a:srgbClr val="333333"/>
                  </a:solidFill>
                  <a:latin typeface="Helvetica World"/>
                </a:rPr>
                <a:t>Concatenates recurrent hidden state h_16 with projected spatial fixed effects, processed through LayerNorm MLP to output predicted yield Y_hat.</a:t>
              </a:r>
            </a:p>
            <a:p>
              <a:r>
                <a:rPr b="1" sz="1600">
                  <a:solidFill>
                    <a:srgbClr val="333333"/>
                  </a:solidFill>
                  <a:latin typeface="Helvetica World"/>
                </a:rPr>
                <a:t>Rigorous Optimization Protocol: </a:t>
              </a:r>
              <a:r>
                <a:rPr b="0" sz="1600">
                  <a:solidFill>
                    <a:srgbClr val="333333"/>
                  </a:solidFill>
                  <a:latin typeface="Helvetica World"/>
                </a:rPr>
                <a:t>AdamW optimizer with cosine annealing schedule, gradient clipping (max norm 1.0), and validation early stopping with patience of 15 epochs.</a:t>
              </a:r>
            </a:p>
            <a:p>
              <a:r>
                <a:rPr b="1" sz="1600">
                  <a:solidFill>
                    <a:srgbClr val="333333"/>
                  </a:solidFill>
                  <a:latin typeface="Helvetica World"/>
                </a:rPr>
                <a:t>Temporal SHAP Attribution: </a:t>
              </a:r>
              <a:r>
                <a:rPr b="0" sz="1600">
                  <a:solidFill>
                    <a:srgbClr val="333333"/>
                  </a:solidFill>
                  <a:latin typeface="Helvetica World"/>
                </a:rPr>
                <a:t>Game-theoretic SHAP and Integrated Gradients across the 16-week lag trajectory to identify district-specific critical phenological sensitivity windows.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sz="3600" b="1">
                  <a:solidFill>
                    <a:srgbClr val="333333"/>
                  </a:solidFill>
                  <a:latin typeface="Georgia Pro Condensed"/>
                </a:rPr>
                <a:t>PyTorch RiceLSTM / RiceGRU Multi-Modal Fusion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20200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sz="1800">
                <a:solidFill>
                  <a:srgbClr val="333333"/>
                </a:solidFill>
                <a:latin typeface="Helvetica World"/>
              </a:rPr>
              <a:t>16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sz="5200">
                <a:solidFill>
                  <a:srgbClr val="333333"/>
                </a:solidFill>
                <a:latin typeface="Georgia Pro Condensed"/>
              </a:rPr>
              <a:t>Threats to Validity &amp; Methodological Defenses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85A47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65383" cy="23962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5025" y="1562100"/>
            <a:ext cx="9763125" cy="6127750"/>
            <a:chOff x="0" y="0"/>
            <a:chExt cx="13017500" cy="81703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06500"/>
              <a:ext cx="13017500" cy="69638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b="1" sz="1500">
                  <a:solidFill>
                    <a:srgbClr val="333333"/>
                  </a:solidFill>
                  <a:latin typeface="Helvetica World"/>
                </a:rPr>
                <a:t>Spatial Gridded Aggregation Threat: </a:t>
              </a:r>
              <a:r>
                <a:rPr b="0" sz="1500">
                  <a:solidFill>
                    <a:srgbClr val="333333"/>
                  </a:solidFill>
                  <a:latin typeface="Helvetica World"/>
                </a:rPr>
                <a:t>District-level climate averaging smooths localized precipitation bursts. Mitigation: Weight gridded observations by MODIS spatial cropland density masks.</a:t>
              </a:r>
            </a:p>
            <a:p>
              <a:r>
                <a:rPr b="1" sz="1500">
                  <a:solidFill>
                    <a:srgbClr val="333333"/>
                  </a:solidFill>
                  <a:latin typeface="Helvetica World"/>
                </a:rPr>
                <a:t>Groundwater Irrigation Confounding: </a:t>
              </a:r>
              <a:r>
                <a:rPr b="0" sz="1500">
                  <a:solidFill>
                    <a:srgbClr val="333333"/>
                  </a:solidFill>
                  <a:latin typeface="Helvetica World"/>
                </a:rPr>
                <a:t>Intensive tubewell/canal irrigation buffers crops against immediate rainfall shocks in Punjab/Haryana. Mitigation: Incorporate district gross irrigated area ratios.</a:t>
              </a:r>
            </a:p>
            <a:p>
              <a:r>
                <a:rPr b="1" sz="1500">
                  <a:solidFill>
                    <a:srgbClr val="333333"/>
                  </a:solidFill>
                  <a:latin typeface="Helvetica World"/>
                </a:rPr>
                <a:t>Agricultural Input Data Omission: </a:t>
              </a:r>
              <a:r>
                <a:rPr b="0" sz="1500">
                  <a:solidFill>
                    <a:srgbClr val="333333"/>
                  </a:solidFill>
                  <a:latin typeface="Helvetica World"/>
                </a:rPr>
                <a:t>Official datasets lack localized fertilizer application and hybrid seed penetration rates. Mitigation: Controlled state-level fixed effects and temporal trend embeddings.</a:t>
              </a:r>
            </a:p>
            <a:p>
              <a:r>
                <a:rPr b="1" sz="1500">
                  <a:solidFill>
                    <a:srgbClr val="333333"/>
                  </a:solidFill>
                  <a:latin typeface="Helvetica World"/>
                </a:rPr>
                <a:t>Climate Regime Non-Stationarity: </a:t>
              </a:r>
              <a:r>
                <a:rPr b="0" sz="1500">
                  <a:solidFill>
                    <a:srgbClr val="333333"/>
                  </a:solidFill>
                  <a:latin typeface="Helvetica World"/>
                </a:rPr>
                <a:t>Macroeconomic trends and shifting monsoon regimes cause temporal distribution shift. Mitigation: Chronological evaluation and continuous annual retraining.</a:t>
              </a:r>
            </a:p>
            <a:p>
              <a:r>
                <a:rPr b="1" sz="1500">
                  <a:solidFill>
                    <a:srgbClr val="333333"/>
                  </a:solidFill>
                  <a:latin typeface="Helvetica World"/>
                </a:rPr>
                <a:t>Zero-Leakage Assurance: </a:t>
              </a:r>
              <a:r>
                <a:rPr b="0" sz="1500">
                  <a:solidFill>
                    <a:srgbClr val="333333"/>
                  </a:solidFill>
                  <a:latin typeface="Helvetica World"/>
                </a:rPr>
                <a:t>Prevention of future information leakage. Mitigation: Strict chronological splitting and pre-harvest sequence cutoffs (tau &lt; T_ref).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0"/>
              <a:ext cx="13017500" cy="66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sz="3600" b="1">
                  <a:solidFill>
                    <a:srgbClr val="333333"/>
                  </a:solidFill>
                  <a:latin typeface="Georgia Pro Condensed"/>
                </a:rPr>
                <a:t>Scientific Threats to Validity &amp; Mitigation Strategies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3117037">
            <a:off x="16099474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9118" y="3367087"/>
            <a:ext cx="5445932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sz="1700" b="1">
                <a:solidFill>
                  <a:srgbClr val="333333"/>
                </a:solidFill>
                <a:latin typeface="Helvetica World"/>
              </a:rPr>
              <a:t>Phase 1: Baseline Benchmark (Completed)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9118" y="5105400"/>
            <a:ext cx="5445932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sz="1300">
                <a:solidFill>
                  <a:srgbClr val="333333"/>
                </a:solidFill>
                <a:latin typeface="Helvetica World"/>
              </a:rPr>
              <a:t>• India-wide panel (10,279 rows, 1990-2017)
• 76 geographic collisions resolved
• Leak-free baseline (RF MAE 727.19, XGB 732.23)
• 24 automated unit tests verified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419850" y="3367087"/>
            <a:ext cx="544618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sz="1700" b="1">
                <a:solidFill>
                  <a:srgbClr val="333333"/>
                </a:solidFill>
                <a:latin typeface="Helvetica World"/>
              </a:rPr>
              <a:t>Phase 2: Phenological Lags (Active)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21966" y="5105400"/>
            <a:ext cx="5446184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sz="1300">
                <a:solidFill>
                  <a:srgbClr val="333333"/>
                </a:solidFill>
                <a:latin typeface="Helvetica World"/>
              </a:rPr>
              <a:t>• Map ICAR/DES 15 Agro-Climatic Zone calendars
• Construct causal 16-week pre-harvest lag sequences
• Fit Lag-Aware Random Forest &amp; XGBoost pipelines
• Benchmark lag vs. aggregate gain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72950" y="2967037"/>
            <a:ext cx="5448300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sz="1700" b="1">
                <a:solidFill>
                  <a:srgbClr val="333333"/>
                </a:solidFill>
                <a:latin typeface="Helvetica World"/>
              </a:rPr>
              <a:t>Phase 3: Deep Sequences &amp; Interface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72950" y="5105400"/>
            <a:ext cx="5448300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sz="1300">
                <a:solidFill>
                  <a:srgbClr val="333333"/>
                </a:solidFill>
                <a:latin typeface="Helvetica World"/>
              </a:rPr>
              <a:t>• Multi-modal PyTorch RiceLSTM &amp; RiceGRU networks
• Temporal SHAP &amp; Integrated Gradients attribution
• Spatial error disaggregation across agro zones
• Real-time district forecast web interface</a:t>
            </a:r>
          </a:p>
        </p:txBody>
      </p:sp>
      <p:sp>
        <p:nvSpPr>
          <p:cNvPr name="AutoShape 8" id="8"/>
          <p:cNvSpPr/>
          <p:nvPr/>
        </p:nvSpPr>
        <p:spPr>
          <a:xfrm>
            <a:off x="992968" y="4410075"/>
            <a:ext cx="17607376" cy="0"/>
          </a:xfrm>
          <a:prstGeom prst="line">
            <a:avLst/>
          </a:prstGeom>
          <a:ln cap="flat" w="19050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669118" y="4248150"/>
            <a:ext cx="323850" cy="323850"/>
            <a:chOff x="0" y="0"/>
            <a:chExt cx="6350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421966" y="4248150"/>
            <a:ext cx="323850" cy="323850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172950" y="4248150"/>
            <a:ext cx="323850" cy="323850"/>
            <a:chOff x="0" y="0"/>
            <a:chExt cx="6350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66750" y="809625"/>
            <a:ext cx="16954500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</a:pPr>
            <a:r>
              <a:rPr sz="4000">
                <a:solidFill>
                  <a:srgbClr val="333333"/>
                </a:solidFill>
                <a:latin typeface="Georgia Pro Condensed"/>
              </a:rPr>
              <a:t>Phased Implementation Roadmap &amp; Deliverables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52512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296400" y="8392160"/>
            <a:ext cx="8324850" cy="1228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b="1" sz="1500">
                <a:solidFill>
                  <a:srgbClr val="333333"/>
                </a:solidFill>
                <a:latin typeface="Helvetica World"/>
              </a:rPr>
              <a:t>Key Conclusion: </a:t>
            </a:r>
            <a:r>
              <a:rPr b="0" sz="1500">
                <a:solidFill>
                  <a:srgbClr val="333333"/>
                </a:solidFill>
                <a:latin typeface="Helvetica World"/>
              </a:rPr>
              <a:t>Aggregate climate baselines demonstrate severe generalization collapse on out-of-sample test seasons (R² ~ 0.12-0.13), establishing the empirical necessity of intra-seasonal pre-harvest lag sequencing.</a:t>
            </a:r>
          </a:p>
          <a:p>
            <a:r>
              <a:rPr b="1" sz="1500">
                <a:solidFill>
                  <a:srgbClr val="333333"/>
                </a:solidFill>
                <a:latin typeface="Helvetica World"/>
              </a:rPr>
              <a:t>Future Research Horizons: </a:t>
            </a:r>
            <a:r>
              <a:rPr b="0" sz="1500">
                <a:solidFill>
                  <a:srgbClr val="333333"/>
                </a:solidFill>
                <a:latin typeface="Helvetica World"/>
              </a:rPr>
              <a:t>Integration of Sentinel-2 satellite vegetation indices (NDVI/EVI), SMAP high-resolution soil moisture products, and operational deployment for district agricultural planning.</a:t>
            </a:r>
          </a:p>
          <a:p>
            <a:r>
              <a:rPr b="1" sz="1500">
                <a:solidFill>
                  <a:srgbClr val="333333"/>
                </a:solidFill>
                <a:latin typeface="Helvetica World"/>
              </a:rPr>
              <a:t>Selected Literature References:</a:t>
            </a:r>
            <a:r>
              <a:rPr b="0" sz="1500">
                <a:solidFill>
                  <a:srgbClr val="333333"/>
                </a:solidFill>
                <a:latin typeface="Helvetica World"/>
              </a:rPr>
              <a:t/>
            </a:r>
          </a:p>
          <a:p>
            <a:r>
              <a:rPr b="1" sz="1500">
                <a:solidFill>
                  <a:srgbClr val="333333"/>
                </a:solidFill>
                <a:latin typeface="Helvetica World"/>
              </a:rPr>
              <a:t>1. Lobell, D. B., et al. (2011). </a:t>
            </a:r>
            <a:r>
              <a:rPr b="0" sz="1500">
                <a:solidFill>
                  <a:srgbClr val="333333"/>
                </a:solidFill>
                <a:latin typeface="Helvetica World"/>
              </a:rPr>
              <a:t>Climate trends and global crop production since 1980. Science, 333(6042), 616-620.</a:t>
            </a:r>
          </a:p>
          <a:p>
            <a:r>
              <a:rPr b="1" sz="1500">
                <a:solidFill>
                  <a:srgbClr val="333333"/>
                </a:solidFill>
                <a:latin typeface="Helvetica World"/>
              </a:rPr>
              <a:t>2. Planning Commission, GoI (1989). </a:t>
            </a:r>
            <a:r>
              <a:rPr b="0" sz="1500">
                <a:solidFill>
                  <a:srgbClr val="333333"/>
                </a:solidFill>
                <a:latin typeface="Helvetica World"/>
              </a:rPr>
              <a:t>Agro-Climatic Regional Planning: An Overview. Government of India.</a:t>
            </a:r>
          </a:p>
          <a:p>
            <a:r>
              <a:rPr b="1" sz="1500">
                <a:solidFill>
                  <a:srgbClr val="333333"/>
                </a:solidFill>
                <a:latin typeface="Helvetica World"/>
              </a:rPr>
              <a:t>3. Lundberg, S. M., &amp; Lee, S. I. (2017). </a:t>
            </a:r>
            <a:r>
              <a:rPr b="0" sz="1500">
                <a:solidFill>
                  <a:srgbClr val="333333"/>
                </a:solidFill>
                <a:latin typeface="Helvetica World"/>
              </a:rPr>
              <a:t>A unified approach to interpreting model predictions. NeurIPS, 30.</a:t>
            </a:r>
          </a:p>
          <a:p>
            <a:r>
              <a:rPr b="1" sz="1500">
                <a:solidFill>
                  <a:srgbClr val="333333"/>
                </a:solidFill>
                <a:latin typeface="Helvetica World"/>
              </a:rPr>
              <a:t>4. Hochreiter, S., &amp; Schmidhuber, J. (1997). </a:t>
            </a:r>
            <a:r>
              <a:rPr b="0" sz="1500">
                <a:solidFill>
                  <a:srgbClr val="333333"/>
                </a:solidFill>
                <a:latin typeface="Helvetica World"/>
              </a:rPr>
              <a:t>Long short-term memory. Neural Computation, 9(8), 1735-1780.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03759" y="942975"/>
            <a:ext cx="8317491" cy="3894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956"/>
              </a:lnSpc>
            </a:pPr>
            <a:r>
              <a:rPr sz="4800">
                <a:solidFill>
                  <a:srgbClr val="333333"/>
                </a:solidFill>
                <a:latin typeface="Georgia Pro Condensed"/>
              </a:rPr>
              <a:t>Conclusion, Future Works &amp; References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3117037">
            <a:off x="5418783" y="7952721"/>
            <a:ext cx="2112604" cy="1859092"/>
          </a:xfrm>
          <a:custGeom>
            <a:avLst/>
            <a:gdLst/>
            <a:ahLst/>
            <a:cxnLst/>
            <a:rect r="r" b="b" t="t" l="l"/>
            <a:pathLst>
              <a:path h="1859092" w="2112604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Rainfall-Lag-Aware Crop Yield Forecasting</dc:description>
  <dc:identifier>DAHVph9vZ1U</dc:identifier>
  <dcterms:modified xsi:type="dcterms:W3CDTF">2011-08-01T06:04:30Z</dcterms:modified>
  <cp:revision>1</cp:revision>
  <dc:title>Presentation - Rainfall-Lag-Aware Crop Yield Forecasting</dc:title>
</cp:coreProperties>
</file>